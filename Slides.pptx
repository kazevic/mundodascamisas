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49.svg" ContentType="image/svg"/>
  <Override PartName="/ppt/media/image25.svg" ContentType="image/svg"/>
  <Override PartName="/ppt/media/image8.svg" ContentType="image/svg"/>
  <Override PartName="/ppt/media/image51.svg" ContentType="image/svg"/>
  <Override PartName="/ppt/media/image4.svg" ContentType="image/svg"/>
  <Override PartName="/ppt/media/image17.svg" ContentType="image/svg"/>
  <Override PartName="/ppt/media/image10.svg" ContentType="image/svg"/>
  <Override PartName="/ppt/media/image12.svg" ContentType="image/svg"/>
  <Override PartName="/ppt/media/image31.svg" ContentType="image/svg"/>
  <Override PartName="/ppt/media/image27.svg" ContentType="image/svg"/>
  <Override PartName="/ppt/media/image39.svg" ContentType="image/svg"/>
  <Override PartName="/ppt/media/image37.svg" ContentType="image/svg"/>
  <Override PartName="/ppt/media/image45.svg" ContentType="image/svg"/>
  <Override PartName="/ppt/media/image47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7559675" cy="10691813"/>
  <p:embeddedFontLst>
    <p:embeddedFont>
      <p:font typeface="Agrandir Bold"/>
    </p:embeddedFont>
    <p:embeddedFont>
      <p:font typeface="Agrandir"/>
      <p:regular r:id="rId18"/>
    </p:embeddedFont>
    <p:embeddedFont>
      <p:font typeface="Agrandir Italics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font" Target="fonts/Font_1_Agrandir_Regular.fntdata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95F4A9-340A-44FC-ACFB-C3642B177E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7CC531-D37E-438D-8588-ADFE39A382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D75EAC-4285-4546-9AB4-D95EF915BB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marL="228600"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F9D979-330C-4AA1-A542-5866DD6882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9419BA-05EB-4EBE-BE43-883A13CE10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BF7064-354D-4E98-B362-C55591E539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10AF89-731A-433D-B611-5E1D35BD1C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228600"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3796DE-D787-432D-A8DC-FE57DEFC6E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938A24-04E3-4F7A-909E-6072EB57F4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70ACCA-428F-42E5-878A-03730F3371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78EE96-A417-4A1E-9F22-6F792740DA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18.png"/><Relationship Id="rId10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20.png"/><Relationship Id="rId8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svg"/><Relationship Id="rId3" Type="http://schemas.openxmlformats.org/officeDocument/2006/relationships/image" Target="../media/image26.png"/><Relationship Id="rId4" Type="http://schemas.openxmlformats.org/officeDocument/2006/relationships/image" Target="../media/image27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38.png"/><Relationship Id="rId5" Type="http://schemas.openxmlformats.org/officeDocument/2006/relationships/image" Target="../media/image39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36.png"/><Relationship Id="rId11" Type="http://schemas.openxmlformats.org/officeDocument/2006/relationships/image" Target="../media/image37.svg"/><Relationship Id="rId1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8.png"/><Relationship Id="rId9" Type="http://schemas.openxmlformats.org/officeDocument/2006/relationships/image" Target="../media/image39.svg"/><Relationship Id="rId10" Type="http://schemas.openxmlformats.org/officeDocument/2006/relationships/image" Target="../media/image41.png"/><Relationship Id="rId1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svg"/><Relationship Id="rId5" Type="http://schemas.openxmlformats.org/officeDocument/2006/relationships/image" Target="../media/image26.png"/><Relationship Id="rId6" Type="http://schemas.openxmlformats.org/officeDocument/2006/relationships/image" Target="../media/image27.svg"/><Relationship Id="rId7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svg"/><Relationship Id="rId3" Type="http://schemas.openxmlformats.org/officeDocument/2006/relationships/image" Target="../media/image48.png"/><Relationship Id="rId4" Type="http://schemas.openxmlformats.org/officeDocument/2006/relationships/image" Target="../media/image49.svg"/><Relationship Id="rId5" Type="http://schemas.openxmlformats.org/officeDocument/2006/relationships/image" Target="../media/image48.png"/><Relationship Id="rId6" Type="http://schemas.openxmlformats.org/officeDocument/2006/relationships/image" Target="../media/image49.svg"/><Relationship Id="rId7" Type="http://schemas.openxmlformats.org/officeDocument/2006/relationships/image" Target="../media/image13.png"/><Relationship Id="rId8" Type="http://schemas.openxmlformats.org/officeDocument/2006/relationships/image" Target="../media/image13.png"/><Relationship Id="rId9" Type="http://schemas.openxmlformats.org/officeDocument/2006/relationships/image" Target="../media/image48.png"/><Relationship Id="rId10" Type="http://schemas.openxmlformats.org/officeDocument/2006/relationships/image" Target="../media/image49.svg"/><Relationship Id="rId11" Type="http://schemas.openxmlformats.org/officeDocument/2006/relationships/image" Target="../media/image13.png"/><Relationship Id="rId12" Type="http://schemas.openxmlformats.org/officeDocument/2006/relationships/image" Target="../media/image48.png"/><Relationship Id="rId13" Type="http://schemas.openxmlformats.org/officeDocument/2006/relationships/image" Target="../media/image49.svg"/><Relationship Id="rId14" Type="http://schemas.openxmlformats.org/officeDocument/2006/relationships/image" Target="../media/image13.png"/><Relationship Id="rId15" Type="http://schemas.openxmlformats.org/officeDocument/2006/relationships/image" Target="../media/image48.png"/><Relationship Id="rId16" Type="http://schemas.openxmlformats.org/officeDocument/2006/relationships/image" Target="../media/image49.svg"/><Relationship Id="rId17" Type="http://schemas.openxmlformats.org/officeDocument/2006/relationships/image" Target="../media/image13.png"/><Relationship Id="rId18" Type="http://schemas.openxmlformats.org/officeDocument/2006/relationships/image" Target="../media/image13.png"/><Relationship Id="rId19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svg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62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3000960" y="3044520"/>
            <a:ext cx="12284640" cy="5353920"/>
            <a:chOff x="3000960" y="3044520"/>
            <a:chExt cx="12284640" cy="5353920"/>
          </a:xfrm>
        </p:grpSpPr>
        <p:grpSp>
          <p:nvGrpSpPr>
            <p:cNvPr id="65" name="Group 6"/>
            <p:cNvGrpSpPr/>
            <p:nvPr/>
          </p:nvGrpSpPr>
          <p:grpSpPr>
            <a:xfrm>
              <a:off x="5061960" y="7459200"/>
              <a:ext cx="7972200" cy="939240"/>
              <a:chOff x="5061960" y="7459200"/>
              <a:chExt cx="7972200" cy="939240"/>
            </a:xfrm>
          </p:grpSpPr>
          <p:sp>
            <p:nvSpPr>
              <p:cNvPr id="66" name="Freeform 7"/>
              <p:cNvSpPr/>
              <p:nvPr/>
            </p:nvSpPr>
            <p:spPr>
              <a:xfrm>
                <a:off x="5074560" y="7465680"/>
                <a:ext cx="7959600" cy="926640"/>
              </a:xfrm>
              <a:custGeom>
                <a:avLst/>
                <a:gdLst>
                  <a:gd name="textAreaLeft" fmla="*/ 0 w 7959600"/>
                  <a:gd name="textAreaRight" fmla="*/ 7961040 w 7959600"/>
                  <a:gd name="textAreaTop" fmla="*/ 0 h 926640"/>
                  <a:gd name="textAreaBottom" fmla="*/ 928080 h 926640"/>
                </a:gdLst>
                <a:ahLst/>
                <a:cxnLst/>
                <a:rect l="textAreaLeft" t="textAreaTop" r="textAreaRight" b="textAreaBottom"/>
                <a:pathLst>
                  <a:path w="16415049" h="1913890">
                    <a:moveTo>
                      <a:pt x="15458105" y="1913890"/>
                    </a:move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15458105" y="0"/>
                    </a:lnTo>
                    <a:cubicBezTo>
                      <a:pt x="15986551" y="0"/>
                      <a:pt x="16415049" y="428371"/>
                      <a:pt x="16415049" y="956945"/>
                    </a:cubicBezTo>
                    <a:cubicBezTo>
                      <a:pt x="16415049" y="1485392"/>
                      <a:pt x="15986551" y="1913890"/>
                      <a:pt x="15458105" y="1913890"/>
                    </a:cubicBezTo>
                    <a:close/>
                  </a:path>
                </a:pathLst>
              </a:custGeom>
              <a:solidFill>
                <a:srgbClr val="B9BBD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Freeform 8"/>
              <p:cNvSpPr/>
              <p:nvPr/>
            </p:nvSpPr>
            <p:spPr>
              <a:xfrm>
                <a:off x="5061960" y="7459200"/>
                <a:ext cx="7971840" cy="939240"/>
              </a:xfrm>
              <a:custGeom>
                <a:avLst/>
                <a:gdLst>
                  <a:gd name="textAreaLeft" fmla="*/ 0 w 7971840"/>
                  <a:gd name="textAreaRight" fmla="*/ 7973280 w 7971840"/>
                  <a:gd name="textAreaTop" fmla="*/ 0 h 939240"/>
                  <a:gd name="textAreaBottom" fmla="*/ 940680 h 939240"/>
                </a:gdLst>
                <a:ahLst/>
                <a:cxnLst/>
                <a:rect l="textAreaLeft" t="textAreaTop" r="textAreaRight" b="textAreaBottom"/>
                <a:pathLst>
                  <a:path w="16440449" h="1939290">
                    <a:moveTo>
                      <a:pt x="15470805" y="0"/>
                    </a:moveTo>
                    <a:lnTo>
                      <a:pt x="969645" y="0"/>
                    </a:lnTo>
                    <a:cubicBezTo>
                      <a:pt x="434975" y="0"/>
                      <a:pt x="0" y="434975"/>
                      <a:pt x="0" y="969645"/>
                    </a:cubicBezTo>
                    <a:cubicBezTo>
                      <a:pt x="0" y="1504315"/>
                      <a:pt x="434975" y="1939290"/>
                      <a:pt x="969645" y="1939290"/>
                    </a:cubicBezTo>
                    <a:lnTo>
                      <a:pt x="15470805" y="1939290"/>
                    </a:lnTo>
                    <a:cubicBezTo>
                      <a:pt x="16005474" y="1939290"/>
                      <a:pt x="16440449" y="1504315"/>
                      <a:pt x="16440449" y="969645"/>
                    </a:cubicBezTo>
                    <a:cubicBezTo>
                      <a:pt x="16440449" y="434975"/>
                      <a:pt x="16005474" y="0"/>
                      <a:pt x="15470805" y="0"/>
                    </a:cubicBezTo>
                    <a:close/>
                    <a:moveTo>
                      <a:pt x="15470805" y="1913890"/>
                    </a:moveTo>
                    <a:lnTo>
                      <a:pt x="969645" y="1913890"/>
                    </a:lnTo>
                    <a:cubicBezTo>
                      <a:pt x="448945" y="1913890"/>
                      <a:pt x="25400" y="1490345"/>
                      <a:pt x="25400" y="969645"/>
                    </a:cubicBezTo>
                    <a:cubicBezTo>
                      <a:pt x="25400" y="448945"/>
                      <a:pt x="448945" y="25400"/>
                      <a:pt x="969645" y="25400"/>
                    </a:cubicBezTo>
                    <a:lnTo>
                      <a:pt x="15470805" y="25400"/>
                    </a:lnTo>
                    <a:cubicBezTo>
                      <a:pt x="15991505" y="25400"/>
                      <a:pt x="16415049" y="448945"/>
                      <a:pt x="16415049" y="969645"/>
                    </a:cubicBezTo>
                    <a:cubicBezTo>
                      <a:pt x="16415049" y="1490345"/>
                      <a:pt x="15991505" y="1913890"/>
                      <a:pt x="15470805" y="191389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pt-B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" name="TextBox 9"/>
            <p:cNvSpPr/>
            <p:nvPr/>
          </p:nvSpPr>
          <p:spPr>
            <a:xfrm>
              <a:off x="3000960" y="3044520"/>
              <a:ext cx="12284640" cy="382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13751"/>
                </a:lnSpc>
              </a:pPr>
              <a:r>
                <a:rPr lang="en-US" sz="1250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Mundo das Camisas</a:t>
              </a:r>
              <a:endParaRPr lang="pt-BR" sz="125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10"/>
            <p:cNvSpPr/>
            <p:nvPr/>
          </p:nvSpPr>
          <p:spPr>
            <a:xfrm>
              <a:off x="5429520" y="7591680"/>
              <a:ext cx="7427880" cy="66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636"/>
                </a:lnSpc>
              </a:pPr>
              <a:r>
                <a:rPr lang="en-US" sz="189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Carlos Eduardo Lima, João Felipe Santos, </a:t>
              </a:r>
              <a:endParaRPr lang="pt-BR" sz="18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2636"/>
                </a:lnSpc>
              </a:pPr>
              <a:r>
                <a:rPr lang="en-US" sz="189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João Guilherme da Cunha, João Vitor Mendonça, Kauã Azevedo</a:t>
              </a:r>
              <a:endParaRPr lang="pt-BR" sz="189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AutoShape 11"/>
          <p:cNvSpPr/>
          <p:nvPr/>
        </p:nvSpPr>
        <p:spPr>
          <a:xfrm>
            <a:off x="680400" y="252324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Freeform 12"/>
          <p:cNvSpPr/>
          <p:nvPr/>
        </p:nvSpPr>
        <p:spPr>
          <a:xfrm>
            <a:off x="1028880" y="1041840"/>
            <a:ext cx="643320" cy="645840"/>
          </a:xfrm>
          <a:custGeom>
            <a:avLst/>
            <a:gdLst>
              <a:gd name="textAreaLeft" fmla="*/ 0 w 643320"/>
              <a:gd name="textAreaRight" fmla="*/ 644760 w 643320"/>
              <a:gd name="textAreaTop" fmla="*/ 0 h 645840"/>
              <a:gd name="textAreaBottom" fmla="*/ 647280 h 645840"/>
            </a:gdLst>
            <a:ahLst/>
            <a:cxnLst/>
            <a:rect l="textAreaLeft" t="textAreaTop" r="textAreaRight" b="textAreaBottom"/>
            <a:pathLst>
              <a:path w="644730" h="647249">
                <a:moveTo>
                  <a:pt x="0" y="0"/>
                </a:moveTo>
                <a:lnTo>
                  <a:pt x="644730" y="0"/>
                </a:lnTo>
                <a:lnTo>
                  <a:pt x="644730" y="647249"/>
                </a:lnTo>
                <a:lnTo>
                  <a:pt x="0" y="6472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1809000" y="1095120"/>
            <a:ext cx="371016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5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PROJETO FRONT-END ADS - BANGU 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74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5"/>
          <p:cNvGrpSpPr/>
          <p:nvPr/>
        </p:nvGrpSpPr>
        <p:grpSpPr>
          <a:xfrm>
            <a:off x="13446720" y="2153880"/>
            <a:ext cx="3810960" cy="4742640"/>
            <a:chOff x="13446720" y="2153880"/>
            <a:chExt cx="3810960" cy="4742640"/>
          </a:xfrm>
        </p:grpSpPr>
        <p:sp>
          <p:nvSpPr>
            <p:cNvPr id="77" name="Freeform 6"/>
            <p:cNvSpPr/>
            <p:nvPr/>
          </p:nvSpPr>
          <p:spPr>
            <a:xfrm>
              <a:off x="13446720" y="2552040"/>
              <a:ext cx="3810960" cy="4344480"/>
            </a:xfrm>
            <a:custGeom>
              <a:avLst/>
              <a:gdLst>
                <a:gd name="textAreaLeft" fmla="*/ 0 w 3810960"/>
                <a:gd name="textAreaRight" fmla="*/ 3812400 w 3810960"/>
                <a:gd name="textAreaTop" fmla="*/ 0 h 4344480"/>
                <a:gd name="textAreaBottom" fmla="*/ 4345920 h 4344480"/>
              </a:gdLst>
              <a:ahLst/>
              <a:cxnLst/>
              <a:rect l="textAreaLeft" t="textAreaTop" r="textAreaRight" b="textAreaBottom"/>
              <a:pathLst>
                <a:path w="1004133" h="1144585">
                  <a:moveTo>
                    <a:pt x="103562" y="0"/>
                  </a:moveTo>
                  <a:lnTo>
                    <a:pt x="900571" y="0"/>
                  </a:lnTo>
                  <a:cubicBezTo>
                    <a:pt x="957767" y="0"/>
                    <a:pt x="1004133" y="46366"/>
                    <a:pt x="1004133" y="103562"/>
                  </a:cubicBezTo>
                  <a:lnTo>
                    <a:pt x="1004133" y="1041023"/>
                  </a:lnTo>
                  <a:cubicBezTo>
                    <a:pt x="1004133" y="1098219"/>
                    <a:pt x="957767" y="1144585"/>
                    <a:pt x="900571" y="1144585"/>
                  </a:cubicBezTo>
                  <a:lnTo>
                    <a:pt x="103562" y="1144585"/>
                  </a:lnTo>
                  <a:cubicBezTo>
                    <a:pt x="76096" y="1144585"/>
                    <a:pt x="49754" y="1133674"/>
                    <a:pt x="30333" y="1114253"/>
                  </a:cubicBezTo>
                  <a:cubicBezTo>
                    <a:pt x="10911" y="1094831"/>
                    <a:pt x="0" y="1068490"/>
                    <a:pt x="0" y="1041023"/>
                  </a:cubicBezTo>
                  <a:lnTo>
                    <a:pt x="0" y="103562"/>
                  </a:lnTo>
                  <a:cubicBezTo>
                    <a:pt x="0" y="76096"/>
                    <a:pt x="10911" y="49754"/>
                    <a:pt x="30333" y="30333"/>
                  </a:cubicBezTo>
                  <a:cubicBezTo>
                    <a:pt x="49754" y="10911"/>
                    <a:pt x="76096" y="0"/>
                    <a:pt x="103562" y="0"/>
                  </a:cubicBezTo>
                  <a:close/>
                </a:path>
              </a:pathLst>
            </a:custGeom>
            <a:solidFill>
              <a:srgbClr val="B9BB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7"/>
            <p:cNvSpPr/>
            <p:nvPr/>
          </p:nvSpPr>
          <p:spPr>
            <a:xfrm>
              <a:off x="13446720" y="2153880"/>
              <a:ext cx="3810960" cy="47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9" name="AutoShape 8"/>
          <p:cNvSpPr/>
          <p:nvPr/>
        </p:nvSpPr>
        <p:spPr>
          <a:xfrm>
            <a:off x="680400" y="210888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0" name="Group 9"/>
          <p:cNvGrpSpPr/>
          <p:nvPr/>
        </p:nvGrpSpPr>
        <p:grpSpPr>
          <a:xfrm>
            <a:off x="1028880" y="2153880"/>
            <a:ext cx="3817080" cy="4742640"/>
            <a:chOff x="1028880" y="2153880"/>
            <a:chExt cx="3817080" cy="4742640"/>
          </a:xfrm>
        </p:grpSpPr>
        <p:sp>
          <p:nvSpPr>
            <p:cNvPr id="81" name="Freeform 10"/>
            <p:cNvSpPr/>
            <p:nvPr/>
          </p:nvSpPr>
          <p:spPr>
            <a:xfrm>
              <a:off x="1028880" y="2552040"/>
              <a:ext cx="3817080" cy="4344480"/>
            </a:xfrm>
            <a:custGeom>
              <a:avLst/>
              <a:gdLst>
                <a:gd name="textAreaLeft" fmla="*/ 0 w 3817080"/>
                <a:gd name="textAreaRight" fmla="*/ 3818520 w 3817080"/>
                <a:gd name="textAreaTop" fmla="*/ 0 h 4344480"/>
                <a:gd name="textAreaBottom" fmla="*/ 4345920 h 4344480"/>
              </a:gdLst>
              <a:ahLst/>
              <a:cxnLst/>
              <a:rect l="textAreaLeft" t="textAreaTop" r="textAreaRight" b="textAreaBottom"/>
              <a:pathLst>
                <a:path w="1005690" h="1144585">
                  <a:moveTo>
                    <a:pt x="103402" y="0"/>
                  </a:moveTo>
                  <a:lnTo>
                    <a:pt x="902288" y="0"/>
                  </a:lnTo>
                  <a:cubicBezTo>
                    <a:pt x="929712" y="0"/>
                    <a:pt x="956012" y="10894"/>
                    <a:pt x="975404" y="30286"/>
                  </a:cubicBezTo>
                  <a:cubicBezTo>
                    <a:pt x="994795" y="49677"/>
                    <a:pt x="1005690" y="75978"/>
                    <a:pt x="1005690" y="103402"/>
                  </a:cubicBezTo>
                  <a:lnTo>
                    <a:pt x="1005690" y="1041183"/>
                  </a:lnTo>
                  <a:cubicBezTo>
                    <a:pt x="1005690" y="1068607"/>
                    <a:pt x="994795" y="1094908"/>
                    <a:pt x="975404" y="1114300"/>
                  </a:cubicBezTo>
                  <a:cubicBezTo>
                    <a:pt x="956012" y="1133691"/>
                    <a:pt x="929712" y="1144585"/>
                    <a:pt x="902288" y="1144585"/>
                  </a:cubicBezTo>
                  <a:lnTo>
                    <a:pt x="103402" y="1144585"/>
                  </a:lnTo>
                  <a:cubicBezTo>
                    <a:pt x="75978" y="1144585"/>
                    <a:pt x="49677" y="1133691"/>
                    <a:pt x="30286" y="1114300"/>
                  </a:cubicBezTo>
                  <a:cubicBezTo>
                    <a:pt x="10894" y="1094908"/>
                    <a:pt x="0" y="1068607"/>
                    <a:pt x="0" y="1041183"/>
                  </a:cubicBezTo>
                  <a:lnTo>
                    <a:pt x="0" y="103402"/>
                  </a:lnTo>
                  <a:cubicBezTo>
                    <a:pt x="0" y="75978"/>
                    <a:pt x="10894" y="49677"/>
                    <a:pt x="30286" y="30286"/>
                  </a:cubicBezTo>
                  <a:cubicBezTo>
                    <a:pt x="49677" y="10894"/>
                    <a:pt x="75978" y="0"/>
                    <a:pt x="103402" y="0"/>
                  </a:cubicBezTo>
                  <a:close/>
                </a:path>
              </a:pathLst>
            </a:custGeom>
            <a:solidFill>
              <a:srgbClr val="B9BB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11"/>
            <p:cNvSpPr/>
            <p:nvPr/>
          </p:nvSpPr>
          <p:spPr>
            <a:xfrm>
              <a:off x="1028880" y="2153880"/>
              <a:ext cx="3817080" cy="47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83" name="Picture 12"/>
          <p:cNvPicPr/>
          <p:nvPr/>
        </p:nvPicPr>
        <p:blipFill>
          <a:blip r:embed="rId1"/>
          <a:stretch/>
        </p:blipFill>
        <p:spPr>
          <a:xfrm>
            <a:off x="1131840" y="2805480"/>
            <a:ext cx="437040" cy="437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4" name="Group 13"/>
          <p:cNvGrpSpPr/>
          <p:nvPr/>
        </p:nvGrpSpPr>
        <p:grpSpPr>
          <a:xfrm>
            <a:off x="5173200" y="2153880"/>
            <a:ext cx="3815280" cy="4742640"/>
            <a:chOff x="5173200" y="2153880"/>
            <a:chExt cx="3815280" cy="4742640"/>
          </a:xfrm>
        </p:grpSpPr>
        <p:sp>
          <p:nvSpPr>
            <p:cNvPr id="85" name="Freeform 14"/>
            <p:cNvSpPr/>
            <p:nvPr/>
          </p:nvSpPr>
          <p:spPr>
            <a:xfrm>
              <a:off x="5173200" y="2552040"/>
              <a:ext cx="3815280" cy="4344480"/>
            </a:xfrm>
            <a:custGeom>
              <a:avLst/>
              <a:gdLst>
                <a:gd name="textAreaLeft" fmla="*/ 0 w 3815280"/>
                <a:gd name="textAreaRight" fmla="*/ 3816720 w 3815280"/>
                <a:gd name="textAreaTop" fmla="*/ 0 h 4344480"/>
                <a:gd name="textAreaBottom" fmla="*/ 4345920 h 4344480"/>
              </a:gdLst>
              <a:ahLst/>
              <a:cxnLst/>
              <a:rect l="textAreaLeft" t="textAreaTop" r="textAreaRight" b="textAreaBottom"/>
              <a:pathLst>
                <a:path w="1005224" h="1144585">
                  <a:moveTo>
                    <a:pt x="103450" y="0"/>
                  </a:moveTo>
                  <a:lnTo>
                    <a:pt x="901774" y="0"/>
                  </a:lnTo>
                  <a:cubicBezTo>
                    <a:pt x="929211" y="0"/>
                    <a:pt x="955524" y="10899"/>
                    <a:pt x="974924" y="30300"/>
                  </a:cubicBezTo>
                  <a:cubicBezTo>
                    <a:pt x="994325" y="49700"/>
                    <a:pt x="1005224" y="76013"/>
                    <a:pt x="1005224" y="103450"/>
                  </a:cubicBezTo>
                  <a:lnTo>
                    <a:pt x="1005224" y="1041136"/>
                  </a:lnTo>
                  <a:cubicBezTo>
                    <a:pt x="1005224" y="1098269"/>
                    <a:pt x="958908" y="1144585"/>
                    <a:pt x="901774" y="1144585"/>
                  </a:cubicBezTo>
                  <a:lnTo>
                    <a:pt x="103450" y="1144585"/>
                  </a:lnTo>
                  <a:cubicBezTo>
                    <a:pt x="46316" y="1144585"/>
                    <a:pt x="0" y="1098269"/>
                    <a:pt x="0" y="1041136"/>
                  </a:cubicBezTo>
                  <a:lnTo>
                    <a:pt x="0" y="103450"/>
                  </a:lnTo>
                  <a:cubicBezTo>
                    <a:pt x="0" y="46316"/>
                    <a:pt x="46316" y="0"/>
                    <a:pt x="103450" y="0"/>
                  </a:cubicBezTo>
                  <a:close/>
                </a:path>
              </a:pathLst>
            </a:custGeom>
            <a:solidFill>
              <a:srgbClr val="B9BB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15"/>
            <p:cNvSpPr/>
            <p:nvPr/>
          </p:nvSpPr>
          <p:spPr>
            <a:xfrm>
              <a:off x="5173200" y="2153880"/>
              <a:ext cx="3815280" cy="47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87" name="Picture 16"/>
          <p:cNvPicPr/>
          <p:nvPr/>
        </p:nvPicPr>
        <p:blipFill>
          <a:blip r:embed="rId2"/>
          <a:stretch/>
        </p:blipFill>
        <p:spPr>
          <a:xfrm>
            <a:off x="5270760" y="2805480"/>
            <a:ext cx="437040" cy="437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8" name="Group 17"/>
          <p:cNvGrpSpPr/>
          <p:nvPr/>
        </p:nvGrpSpPr>
        <p:grpSpPr>
          <a:xfrm>
            <a:off x="9315720" y="2153880"/>
            <a:ext cx="3810960" cy="4742640"/>
            <a:chOff x="9315720" y="2153880"/>
            <a:chExt cx="3810960" cy="4742640"/>
          </a:xfrm>
        </p:grpSpPr>
        <p:sp>
          <p:nvSpPr>
            <p:cNvPr id="89" name="Freeform 18"/>
            <p:cNvSpPr/>
            <p:nvPr/>
          </p:nvSpPr>
          <p:spPr>
            <a:xfrm>
              <a:off x="9315720" y="2552040"/>
              <a:ext cx="3810960" cy="4344480"/>
            </a:xfrm>
            <a:custGeom>
              <a:avLst/>
              <a:gdLst>
                <a:gd name="textAreaLeft" fmla="*/ 0 w 3810960"/>
                <a:gd name="textAreaRight" fmla="*/ 3812400 w 3810960"/>
                <a:gd name="textAreaTop" fmla="*/ 0 h 4344480"/>
                <a:gd name="textAreaBottom" fmla="*/ 4345920 h 4344480"/>
              </a:gdLst>
              <a:ahLst/>
              <a:cxnLst/>
              <a:rect l="textAreaLeft" t="textAreaTop" r="textAreaRight" b="textAreaBottom"/>
              <a:pathLst>
                <a:path w="1004133" h="1144585">
                  <a:moveTo>
                    <a:pt x="103562" y="0"/>
                  </a:moveTo>
                  <a:lnTo>
                    <a:pt x="900571" y="0"/>
                  </a:lnTo>
                  <a:cubicBezTo>
                    <a:pt x="957767" y="0"/>
                    <a:pt x="1004133" y="46366"/>
                    <a:pt x="1004133" y="103562"/>
                  </a:cubicBezTo>
                  <a:lnTo>
                    <a:pt x="1004133" y="1041023"/>
                  </a:lnTo>
                  <a:cubicBezTo>
                    <a:pt x="1004133" y="1098219"/>
                    <a:pt x="957767" y="1144585"/>
                    <a:pt x="900571" y="1144585"/>
                  </a:cubicBezTo>
                  <a:lnTo>
                    <a:pt x="103562" y="1144585"/>
                  </a:lnTo>
                  <a:cubicBezTo>
                    <a:pt x="76096" y="1144585"/>
                    <a:pt x="49754" y="1133674"/>
                    <a:pt x="30333" y="1114253"/>
                  </a:cubicBezTo>
                  <a:cubicBezTo>
                    <a:pt x="10911" y="1094831"/>
                    <a:pt x="0" y="1068490"/>
                    <a:pt x="0" y="1041023"/>
                  </a:cubicBezTo>
                  <a:lnTo>
                    <a:pt x="0" y="103562"/>
                  </a:lnTo>
                  <a:cubicBezTo>
                    <a:pt x="0" y="76096"/>
                    <a:pt x="10911" y="49754"/>
                    <a:pt x="30333" y="30333"/>
                  </a:cubicBezTo>
                  <a:cubicBezTo>
                    <a:pt x="49754" y="10911"/>
                    <a:pt x="76096" y="0"/>
                    <a:pt x="103562" y="0"/>
                  </a:cubicBezTo>
                  <a:close/>
                </a:path>
              </a:pathLst>
            </a:custGeom>
            <a:solidFill>
              <a:srgbClr val="B9BB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TextBox 19"/>
            <p:cNvSpPr/>
            <p:nvPr/>
          </p:nvSpPr>
          <p:spPr>
            <a:xfrm>
              <a:off x="9315720" y="2153880"/>
              <a:ext cx="3810960" cy="47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91" name="Picture 20"/>
          <p:cNvPicPr/>
          <p:nvPr/>
        </p:nvPicPr>
        <p:blipFill>
          <a:blip r:embed="rId3"/>
          <a:stretch/>
        </p:blipFill>
        <p:spPr>
          <a:xfrm>
            <a:off x="9493920" y="2805480"/>
            <a:ext cx="437040" cy="43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21"/>
          <p:cNvPicPr/>
          <p:nvPr/>
        </p:nvPicPr>
        <p:blipFill>
          <a:blip r:embed="rId4"/>
          <a:stretch/>
        </p:blipFill>
        <p:spPr>
          <a:xfrm>
            <a:off x="13606560" y="2805480"/>
            <a:ext cx="437040" cy="437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3" name="Group 22"/>
          <p:cNvGrpSpPr/>
          <p:nvPr/>
        </p:nvGrpSpPr>
        <p:grpSpPr>
          <a:xfrm>
            <a:off x="1028880" y="6833160"/>
            <a:ext cx="16229160" cy="2578320"/>
            <a:chOff x="1028880" y="6833160"/>
            <a:chExt cx="16229160" cy="2578320"/>
          </a:xfrm>
        </p:grpSpPr>
        <p:sp>
          <p:nvSpPr>
            <p:cNvPr id="94" name="Freeform 23"/>
            <p:cNvSpPr/>
            <p:nvPr/>
          </p:nvSpPr>
          <p:spPr>
            <a:xfrm>
              <a:off x="1028880" y="7230960"/>
              <a:ext cx="16229160" cy="2180520"/>
            </a:xfrm>
            <a:custGeom>
              <a:avLst/>
              <a:gdLst>
                <a:gd name="textAreaLeft" fmla="*/ 0 w 16229160"/>
                <a:gd name="textAreaRight" fmla="*/ 16230600 w 16229160"/>
                <a:gd name="textAreaTop" fmla="*/ 0 h 2180520"/>
                <a:gd name="textAreaBottom" fmla="*/ 2181960 h 2180520"/>
              </a:gdLst>
              <a:ahLst/>
              <a:cxnLst/>
              <a:rect l="textAreaLeft" t="textAreaTop" r="textAreaRight" b="textAreaBottom"/>
              <a:pathLst>
                <a:path w="4274726" h="57470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550373"/>
                  </a:lnTo>
                  <a:cubicBezTo>
                    <a:pt x="4274726" y="556825"/>
                    <a:pt x="4272163" y="563013"/>
                    <a:pt x="4267601" y="567575"/>
                  </a:cubicBezTo>
                  <a:cubicBezTo>
                    <a:pt x="4263039" y="572137"/>
                    <a:pt x="4256851" y="574700"/>
                    <a:pt x="4250399" y="574700"/>
                  </a:cubicBezTo>
                  <a:lnTo>
                    <a:pt x="24327" y="574700"/>
                  </a:lnTo>
                  <a:cubicBezTo>
                    <a:pt x="10891" y="574700"/>
                    <a:pt x="0" y="563808"/>
                    <a:pt x="0" y="5503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B9BB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24"/>
            <p:cNvSpPr/>
            <p:nvPr/>
          </p:nvSpPr>
          <p:spPr>
            <a:xfrm>
              <a:off x="1028880" y="6833160"/>
              <a:ext cx="16229160" cy="2578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96" name="Picture 25"/>
          <p:cNvPicPr/>
          <p:nvPr/>
        </p:nvPicPr>
        <p:blipFill>
          <a:blip r:embed="rId5"/>
          <a:stretch/>
        </p:blipFill>
        <p:spPr>
          <a:xfrm>
            <a:off x="1131840" y="7556400"/>
            <a:ext cx="437040" cy="4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Freeform 26"/>
          <p:cNvSpPr/>
          <p:nvPr/>
        </p:nvSpPr>
        <p:spPr>
          <a:xfrm>
            <a:off x="1028880" y="892080"/>
            <a:ext cx="591480" cy="872640"/>
          </a:xfrm>
          <a:custGeom>
            <a:avLst/>
            <a:gdLst>
              <a:gd name="textAreaLeft" fmla="*/ 0 w 591480"/>
              <a:gd name="textAreaRight" fmla="*/ 592920 w 591480"/>
              <a:gd name="textAreaTop" fmla="*/ 0 h 872640"/>
              <a:gd name="textAreaBottom" fmla="*/ 874080 h 872640"/>
            </a:gdLst>
            <a:ahLst/>
            <a:cxnLst/>
            <a:rect l="textAreaLeft" t="textAreaTop" r="textAreaRight" b="textAreaBottom"/>
            <a:pathLst>
              <a:path w="592892" h="874238">
                <a:moveTo>
                  <a:pt x="0" y="0"/>
                </a:moveTo>
                <a:lnTo>
                  <a:pt x="592892" y="0"/>
                </a:lnTo>
                <a:lnTo>
                  <a:pt x="592892" y="874238"/>
                </a:lnTo>
                <a:lnTo>
                  <a:pt x="0" y="87423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7"/>
          <p:cNvSpPr/>
          <p:nvPr/>
        </p:nvSpPr>
        <p:spPr>
          <a:xfrm>
            <a:off x="1673280" y="813240"/>
            <a:ext cx="624636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Sobre a Empresa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8"/>
          <p:cNvSpPr/>
          <p:nvPr/>
        </p:nvSpPr>
        <p:spPr>
          <a:xfrm>
            <a:off x="1673280" y="2759400"/>
            <a:ext cx="30726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44"/>
              </a:lnSpc>
            </a:pPr>
            <a:r>
              <a:rPr lang="en-US" sz="246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Contextualização:</a:t>
            </a:r>
            <a:endParaRPr lang="pt-BR" sz="2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9"/>
          <p:cNvSpPr/>
          <p:nvPr/>
        </p:nvSpPr>
        <p:spPr>
          <a:xfrm>
            <a:off x="1533600" y="3297600"/>
            <a:ext cx="2577600" cy="227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82"/>
              </a:lnSpc>
            </a:pPr>
            <a:r>
              <a:rPr lang="en-US" sz="213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E-commerce voltado a artigos esportivos com foco em camisas de times e seleções de futebol. </a:t>
            </a:r>
            <a:endParaRPr lang="pt-BR" sz="2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0"/>
          <p:cNvSpPr/>
          <p:nvPr/>
        </p:nvSpPr>
        <p:spPr>
          <a:xfrm>
            <a:off x="5796720" y="2759400"/>
            <a:ext cx="30726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44"/>
              </a:lnSpc>
            </a:pPr>
            <a:r>
              <a:rPr lang="en-US" sz="246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Objetivos:</a:t>
            </a:r>
            <a:endParaRPr lang="pt-BR" sz="2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1"/>
          <p:cNvSpPr/>
          <p:nvPr/>
        </p:nvSpPr>
        <p:spPr>
          <a:xfrm>
            <a:off x="5672880" y="3362400"/>
            <a:ext cx="2914200" cy="15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82"/>
              </a:lnSpc>
            </a:pPr>
            <a:r>
              <a:rPr lang="en-US" sz="213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Desenvolver um projeto funcional e responsivo (Front-End) para a loja virtual.</a:t>
            </a:r>
            <a:endParaRPr lang="pt-BR" sz="2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2"/>
          <p:cNvSpPr/>
          <p:nvPr/>
        </p:nvSpPr>
        <p:spPr>
          <a:xfrm>
            <a:off x="10019880" y="2727720"/>
            <a:ext cx="2810160" cy="9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44"/>
              </a:lnSpc>
            </a:pPr>
            <a:r>
              <a:rPr lang="en-US" sz="246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Resolução de Problemas: </a:t>
            </a:r>
            <a:endParaRPr lang="pt-BR" sz="2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3"/>
          <p:cNvSpPr/>
          <p:nvPr/>
        </p:nvSpPr>
        <p:spPr>
          <a:xfrm>
            <a:off x="9696960" y="3579840"/>
            <a:ext cx="3048480" cy="30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79"/>
              </a:lnSpc>
            </a:pPr>
            <a:r>
              <a:rPr lang="en-US" sz="213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 falta de uma plataforma unificada, intuitiva e acessível para que torcedores possam adquirir uniformes esportivos oficiais com facilidade e segurança.</a:t>
            </a:r>
            <a:endParaRPr lang="pt-BR" sz="2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4"/>
          <p:cNvSpPr/>
          <p:nvPr/>
        </p:nvSpPr>
        <p:spPr>
          <a:xfrm>
            <a:off x="14127480" y="2759400"/>
            <a:ext cx="281016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44"/>
              </a:lnSpc>
            </a:pPr>
            <a:r>
              <a:rPr lang="en-US" sz="246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Público-alvo:</a:t>
            </a:r>
            <a:endParaRPr lang="pt-BR" sz="2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5"/>
          <p:cNvSpPr/>
          <p:nvPr/>
        </p:nvSpPr>
        <p:spPr>
          <a:xfrm>
            <a:off x="14008680" y="3297600"/>
            <a:ext cx="3048480" cy="30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22"/>
              </a:lnSpc>
            </a:pPr>
            <a:r>
              <a:rPr lang="en-US" sz="216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Torcedores de futebol, praticantes de esportes, colecionadores de camisas e pessoas em busca de artigos esportivos para presentear.</a:t>
            </a:r>
            <a:endParaRPr lang="pt-BR" sz="2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6"/>
          <p:cNvSpPr/>
          <p:nvPr/>
        </p:nvSpPr>
        <p:spPr>
          <a:xfrm>
            <a:off x="1673280" y="7516800"/>
            <a:ext cx="44413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444"/>
              </a:lnSpc>
            </a:pPr>
            <a:r>
              <a:rPr lang="en-US" sz="246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Principais funcionalidades:</a:t>
            </a:r>
            <a:endParaRPr lang="pt-BR" sz="2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7"/>
          <p:cNvSpPr/>
          <p:nvPr/>
        </p:nvSpPr>
        <p:spPr>
          <a:xfrm>
            <a:off x="1673280" y="7940160"/>
            <a:ext cx="1538352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82"/>
              </a:lnSpc>
            </a:pPr>
            <a:r>
              <a:rPr lang="en-US" sz="213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Autenticação de usuários, validação rigorosa de formulários, catálogo virtual segmentado e ferramentas de acessibilidade.</a:t>
            </a:r>
            <a:endParaRPr lang="pt-BR" sz="2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110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2" name="AutoShape 5"/>
          <p:cNvSpPr/>
          <p:nvPr/>
        </p:nvSpPr>
        <p:spPr>
          <a:xfrm>
            <a:off x="680400" y="210888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Freeform 6"/>
          <p:cNvSpPr/>
          <p:nvPr/>
        </p:nvSpPr>
        <p:spPr>
          <a:xfrm>
            <a:off x="891000" y="893880"/>
            <a:ext cx="649080" cy="871200"/>
          </a:xfrm>
          <a:custGeom>
            <a:avLst/>
            <a:gdLst>
              <a:gd name="textAreaLeft" fmla="*/ 0 w 649080"/>
              <a:gd name="textAreaRight" fmla="*/ 650520 w 649080"/>
              <a:gd name="textAreaTop" fmla="*/ 0 h 871200"/>
              <a:gd name="textAreaBottom" fmla="*/ 872640 h 871200"/>
            </a:gdLst>
            <a:ahLst/>
            <a:cxnLst/>
            <a:rect l="textAreaLeft" t="textAreaTop" r="textAreaRight" b="textAreaBottom"/>
            <a:pathLst>
              <a:path w="650437" h="872537">
                <a:moveTo>
                  <a:pt x="0" y="0"/>
                </a:moveTo>
                <a:lnTo>
                  <a:pt x="650436" y="0"/>
                </a:lnTo>
                <a:lnTo>
                  <a:pt x="650436" y="872537"/>
                </a:lnTo>
                <a:lnTo>
                  <a:pt x="0" y="8725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Freeform 7"/>
          <p:cNvSpPr/>
          <p:nvPr/>
        </p:nvSpPr>
        <p:spPr>
          <a:xfrm>
            <a:off x="2910240" y="3149280"/>
            <a:ext cx="12465720" cy="6322680"/>
          </a:xfrm>
          <a:custGeom>
            <a:avLst/>
            <a:gdLst>
              <a:gd name="textAreaLeft" fmla="*/ 0 w 12465720"/>
              <a:gd name="textAreaRight" fmla="*/ 12467160 w 12465720"/>
              <a:gd name="textAreaTop" fmla="*/ 0 h 6322680"/>
              <a:gd name="textAreaBottom" fmla="*/ 6324120 h 6322680"/>
            </a:gdLst>
            <a:ahLst/>
            <a:cxnLst/>
            <a:rect l="textAreaLeft" t="textAreaTop" r="textAreaRight" b="textAreaBottom"/>
            <a:pathLst>
              <a:path w="12467218" h="6324280">
                <a:moveTo>
                  <a:pt x="0" y="0"/>
                </a:moveTo>
                <a:lnTo>
                  <a:pt x="12467218" y="0"/>
                </a:lnTo>
                <a:lnTo>
                  <a:pt x="12467218" y="6324280"/>
                </a:lnTo>
                <a:lnTo>
                  <a:pt x="0" y="63242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5" name="Group 8"/>
          <p:cNvGrpSpPr/>
          <p:nvPr/>
        </p:nvGrpSpPr>
        <p:grpSpPr>
          <a:xfrm>
            <a:off x="2924280" y="1878120"/>
            <a:ext cx="5547600" cy="1135800"/>
            <a:chOff x="2924280" y="1878120"/>
            <a:chExt cx="5547600" cy="1135800"/>
          </a:xfrm>
        </p:grpSpPr>
        <p:sp>
          <p:nvSpPr>
            <p:cNvPr id="116" name="Freeform 9"/>
            <p:cNvSpPr/>
            <p:nvPr/>
          </p:nvSpPr>
          <p:spPr>
            <a:xfrm>
              <a:off x="2924280" y="2276280"/>
              <a:ext cx="5547600" cy="737640"/>
            </a:xfrm>
            <a:custGeom>
              <a:avLst/>
              <a:gdLst>
                <a:gd name="textAreaLeft" fmla="*/ 0 w 5547600"/>
                <a:gd name="textAreaRight" fmla="*/ 5549040 w 5547600"/>
                <a:gd name="textAreaTop" fmla="*/ 0 h 737640"/>
                <a:gd name="textAreaBottom" fmla="*/ 739080 h 737640"/>
              </a:gdLst>
              <a:ahLst/>
              <a:cxnLst/>
              <a:rect l="textAreaLeft" t="textAreaTop" r="textAreaRight" b="textAreaBottom"/>
              <a:pathLst>
                <a:path w="1461453" h="194691">
                  <a:moveTo>
                    <a:pt x="1461453" y="0"/>
                  </a:moveTo>
                  <a:lnTo>
                    <a:pt x="1461453" y="194691"/>
                  </a:lnTo>
                  <a:lnTo>
                    <a:pt x="0" y="1946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BDD"/>
            </a:solidFill>
            <a:ln cap="sq" w="952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extBox 10"/>
            <p:cNvSpPr/>
            <p:nvPr/>
          </p:nvSpPr>
          <p:spPr>
            <a:xfrm>
              <a:off x="2924280" y="1878120"/>
              <a:ext cx="5547600" cy="113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8" name="TextBox 11"/>
          <p:cNvSpPr/>
          <p:nvPr/>
        </p:nvSpPr>
        <p:spPr>
          <a:xfrm>
            <a:off x="1774080" y="738360"/>
            <a:ext cx="362520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Requisitos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2"/>
          <p:cNvSpPr/>
          <p:nvPr/>
        </p:nvSpPr>
        <p:spPr>
          <a:xfrm>
            <a:off x="3849120" y="2348280"/>
            <a:ext cx="369828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444"/>
              </a:lnSpc>
            </a:pPr>
            <a:r>
              <a:rPr lang="en-US" sz="246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Requisitos Funcionais</a:t>
            </a:r>
            <a:endParaRPr lang="pt-BR" sz="2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3239640" y="3491640"/>
            <a:ext cx="4512960" cy="11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RF01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: Permitir o cadastro de um novo cliente com dados pessoais e endereço.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4"/>
          <p:cNvSpPr/>
          <p:nvPr/>
        </p:nvSpPr>
        <p:spPr>
          <a:xfrm>
            <a:off x="3239640" y="4631400"/>
            <a:ext cx="4916520" cy="11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RF02: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Validar os formulários via JavaScript antes de permitir o registro ou login.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3239640" y="5771160"/>
            <a:ext cx="4916520" cy="7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 RF03: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Realizar login do cliente e validar os dados  no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grandir Italics"/>
                <a:ea typeface="Agrandir Italics"/>
              </a:rPr>
              <a:t>localStorage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. 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6"/>
          <p:cNvSpPr/>
          <p:nvPr/>
        </p:nvSpPr>
        <p:spPr>
          <a:xfrm>
            <a:off x="3239640" y="6558480"/>
            <a:ext cx="4916520" cy="11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RF04: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Exibir feedbacks detalhados (toasts/modals) para o usuário, substituindo os alertas nativos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7"/>
          <p:cNvSpPr/>
          <p:nvPr/>
        </p:nvSpPr>
        <p:spPr>
          <a:xfrm>
            <a:off x="3239640" y="7698600"/>
            <a:ext cx="4916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 RF05: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Possuir um menu principal dinâmico com submenus (Times Nacionais, Times Internacionais, Seleções). 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Group 18"/>
          <p:cNvGrpSpPr/>
          <p:nvPr/>
        </p:nvGrpSpPr>
        <p:grpSpPr>
          <a:xfrm>
            <a:off x="9677880" y="1878120"/>
            <a:ext cx="5547600" cy="1135800"/>
            <a:chOff x="9677880" y="1878120"/>
            <a:chExt cx="5547600" cy="1135800"/>
          </a:xfrm>
        </p:grpSpPr>
        <p:sp>
          <p:nvSpPr>
            <p:cNvPr id="126" name="Freeform 19"/>
            <p:cNvSpPr/>
            <p:nvPr/>
          </p:nvSpPr>
          <p:spPr>
            <a:xfrm>
              <a:off x="9677880" y="2276280"/>
              <a:ext cx="5547600" cy="737640"/>
            </a:xfrm>
            <a:custGeom>
              <a:avLst/>
              <a:gdLst>
                <a:gd name="textAreaLeft" fmla="*/ 0 w 5547600"/>
                <a:gd name="textAreaRight" fmla="*/ 5549040 w 5547600"/>
                <a:gd name="textAreaTop" fmla="*/ 0 h 737640"/>
                <a:gd name="textAreaBottom" fmla="*/ 739080 h 737640"/>
              </a:gdLst>
              <a:ahLst/>
              <a:cxnLst/>
              <a:rect l="textAreaLeft" t="textAreaTop" r="textAreaRight" b="textAreaBottom"/>
              <a:pathLst>
                <a:path w="1461453" h="194691">
                  <a:moveTo>
                    <a:pt x="1461453" y="0"/>
                  </a:moveTo>
                  <a:lnTo>
                    <a:pt x="1461453" y="194691"/>
                  </a:lnTo>
                  <a:lnTo>
                    <a:pt x="0" y="1946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BBDD"/>
            </a:solidFill>
            <a:ln cap="sq" w="952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Box 20"/>
            <p:cNvSpPr/>
            <p:nvPr/>
          </p:nvSpPr>
          <p:spPr>
            <a:xfrm>
              <a:off x="9677880" y="1878120"/>
              <a:ext cx="5547600" cy="113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8" name="TextBox 21"/>
          <p:cNvSpPr/>
          <p:nvPr/>
        </p:nvSpPr>
        <p:spPr>
          <a:xfrm>
            <a:off x="10338480" y="2348280"/>
            <a:ext cx="42264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444"/>
              </a:lnSpc>
            </a:pPr>
            <a:r>
              <a:rPr lang="en-US" sz="246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Requisitos Não Funcionais</a:t>
            </a:r>
            <a:endParaRPr lang="pt-BR" sz="2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2"/>
          <p:cNvSpPr/>
          <p:nvPr/>
        </p:nvSpPr>
        <p:spPr>
          <a:xfrm>
            <a:off x="9443160" y="3491640"/>
            <a:ext cx="47026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 RNF01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(Responsividade):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O site deve se adaptar automaticamente a dispositivos móveis e desktops, utilizando o framework Bootstrap. 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3"/>
          <p:cNvSpPr/>
          <p:nvPr/>
        </p:nvSpPr>
        <p:spPr>
          <a:xfrm>
            <a:off x="9443160" y="5199840"/>
            <a:ext cx="4916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RNF02 (Acessibilidade):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O portal deve disponibilizar opções nativas para aumento/diminuição de fonte e modo de alto contraste.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4"/>
          <p:cNvSpPr/>
          <p:nvPr/>
        </p:nvSpPr>
        <p:spPr>
          <a:xfrm>
            <a:off x="9443160" y="6842880"/>
            <a:ext cx="491652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431640" lvl="1" indent="-216000" defTabSz="914400">
              <a:lnSpc>
                <a:spcPts val="2801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 RNF03 (Performance):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Os scripts de validação devem ser leves e o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grandir Italics"/>
                <a:ea typeface="Agrandir Italics"/>
              </a:rPr>
              <a:t>localStorage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deve ser gerenciado de forma assíncrona/rápida, sem travar a renderização da tela. 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133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5" name="AutoShape 5"/>
          <p:cNvSpPr/>
          <p:nvPr/>
        </p:nvSpPr>
        <p:spPr>
          <a:xfrm>
            <a:off x="680400" y="210888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Freeform 6"/>
          <p:cNvSpPr/>
          <p:nvPr/>
        </p:nvSpPr>
        <p:spPr>
          <a:xfrm>
            <a:off x="891720" y="816480"/>
            <a:ext cx="617040" cy="875160"/>
          </a:xfrm>
          <a:custGeom>
            <a:avLst/>
            <a:gdLst>
              <a:gd name="textAreaLeft" fmla="*/ 0 w 617040"/>
              <a:gd name="textAreaRight" fmla="*/ 618480 w 617040"/>
              <a:gd name="textAreaTop" fmla="*/ 0 h 875160"/>
              <a:gd name="textAreaBottom" fmla="*/ 876600 h 875160"/>
            </a:gdLst>
            <a:ahLst/>
            <a:cxnLst/>
            <a:rect l="textAreaLeft" t="textAreaTop" r="textAreaRight" b="textAreaBottom"/>
            <a:pathLst>
              <a:path w="618426" h="876635">
                <a:moveTo>
                  <a:pt x="0" y="0"/>
                </a:moveTo>
                <a:lnTo>
                  <a:pt x="618426" y="0"/>
                </a:lnTo>
                <a:lnTo>
                  <a:pt x="618426" y="876635"/>
                </a:lnTo>
                <a:lnTo>
                  <a:pt x="0" y="87663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Freeform 7"/>
          <p:cNvSpPr/>
          <p:nvPr/>
        </p:nvSpPr>
        <p:spPr>
          <a:xfrm>
            <a:off x="1298880" y="2371680"/>
            <a:ext cx="421200" cy="597600"/>
          </a:xfrm>
          <a:custGeom>
            <a:avLst/>
            <a:gdLst>
              <a:gd name="textAreaLeft" fmla="*/ 0 w 421200"/>
              <a:gd name="textAreaRight" fmla="*/ 422640 w 42120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22482" h="598880">
                <a:moveTo>
                  <a:pt x="0" y="0"/>
                </a:moveTo>
                <a:lnTo>
                  <a:pt x="422482" y="0"/>
                </a:lnTo>
                <a:lnTo>
                  <a:pt x="422482" y="598880"/>
                </a:lnTo>
                <a:lnTo>
                  <a:pt x="0" y="598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Freeform 8"/>
          <p:cNvSpPr/>
          <p:nvPr/>
        </p:nvSpPr>
        <p:spPr>
          <a:xfrm>
            <a:off x="1799640" y="2747880"/>
            <a:ext cx="221400" cy="221400"/>
          </a:xfrm>
          <a:custGeom>
            <a:avLst/>
            <a:gdLst>
              <a:gd name="textAreaLeft" fmla="*/ 0 w 221400"/>
              <a:gd name="textAreaRight" fmla="*/ 222840 w 221400"/>
              <a:gd name="textAreaTop" fmla="*/ 0 h 221400"/>
              <a:gd name="textAreaBottom" fmla="*/ 222840 h 221400"/>
            </a:gdLst>
            <a:ahLst/>
            <a:cxnLst/>
            <a:rect l="textAreaLeft" t="textAreaTop" r="textAreaRight" b="textAreaBottom"/>
            <a:pathLst>
              <a:path w="222904" h="222904">
                <a:moveTo>
                  <a:pt x="0" y="0"/>
                </a:moveTo>
                <a:lnTo>
                  <a:pt x="222905" y="0"/>
                </a:lnTo>
                <a:lnTo>
                  <a:pt x="222905" y="222904"/>
                </a:lnTo>
                <a:lnTo>
                  <a:pt x="0" y="2229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Freeform 9"/>
          <p:cNvSpPr/>
          <p:nvPr/>
        </p:nvSpPr>
        <p:spPr>
          <a:xfrm>
            <a:off x="2100960" y="2371680"/>
            <a:ext cx="404640" cy="597600"/>
          </a:xfrm>
          <a:custGeom>
            <a:avLst/>
            <a:gdLst>
              <a:gd name="textAreaLeft" fmla="*/ 0 w 404640"/>
              <a:gd name="textAreaRight" fmla="*/ 406080 w 40464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06149" h="598880">
                <a:moveTo>
                  <a:pt x="0" y="0"/>
                </a:moveTo>
                <a:lnTo>
                  <a:pt x="406149" y="0"/>
                </a:lnTo>
                <a:lnTo>
                  <a:pt x="406149" y="598880"/>
                </a:lnTo>
                <a:lnTo>
                  <a:pt x="0" y="598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Freeform 10"/>
          <p:cNvSpPr/>
          <p:nvPr/>
        </p:nvSpPr>
        <p:spPr>
          <a:xfrm>
            <a:off x="833760" y="3199320"/>
            <a:ext cx="1468800" cy="978480"/>
          </a:xfrm>
          <a:custGeom>
            <a:avLst/>
            <a:gdLst>
              <a:gd name="textAreaLeft" fmla="*/ 0 w 1468800"/>
              <a:gd name="textAreaRight" fmla="*/ 1470240 w 1468800"/>
              <a:gd name="textAreaTop" fmla="*/ 0 h 978480"/>
              <a:gd name="textAreaBottom" fmla="*/ 979920 h 978480"/>
            </a:gdLst>
            <a:ahLst/>
            <a:cxnLst/>
            <a:rect l="textAreaLeft" t="textAreaTop" r="textAreaRight" b="textAreaBottom"/>
            <a:pathLst>
              <a:path w="1470072" h="980048">
                <a:moveTo>
                  <a:pt x="0" y="0"/>
                </a:moveTo>
                <a:lnTo>
                  <a:pt x="1470072" y="0"/>
                </a:lnTo>
                <a:lnTo>
                  <a:pt x="1470072" y="980048"/>
                </a:lnTo>
                <a:lnTo>
                  <a:pt x="0" y="98004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1"/>
          <p:cNvSpPr/>
          <p:nvPr/>
        </p:nvSpPr>
        <p:spPr>
          <a:xfrm>
            <a:off x="2304000" y="3252240"/>
            <a:ext cx="14287320" cy="47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 defTabSz="914400">
              <a:lnSpc>
                <a:spcPts val="4691"/>
              </a:lnSpc>
            </a:pPr>
            <a:r>
              <a:rPr lang="en-US" sz="33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O usuário acessa o site e cai na Tela 3 (Tela Principal). Caso ainda não seja cliente, ele clica em "Cadastro"e é levado à Tela 1 (Cadastro). Após o preenchimento válido de todos os dados e regras, as informações vão para o localStorage e ele acessa a Tela 2 (Login). Ao efetuar o login com as credenciais cadastradas, ele acessa novamente a Tela 3 (Tela Principal). Através do menu no topo, ele pode navegar para as Telas Internas das categorias desejadas, sempre com as opções de acessibilidade disponívei</a:t>
            </a:r>
            <a:endParaRPr lang="pt-BR" sz="3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2"/>
          <p:cNvSpPr/>
          <p:nvPr/>
        </p:nvSpPr>
        <p:spPr>
          <a:xfrm>
            <a:off x="1637280" y="738360"/>
            <a:ext cx="862200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Planejamento e Modelagem</a:t>
            </a:r>
            <a:r>
              <a:rPr lang="en-US" sz="478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3"/>
          <p:cNvSpPr/>
          <p:nvPr/>
        </p:nvSpPr>
        <p:spPr>
          <a:xfrm>
            <a:off x="2594160" y="2347920"/>
            <a:ext cx="69447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561"/>
              </a:lnSpc>
            </a:pPr>
            <a:r>
              <a:rPr lang="en-US" sz="32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Fluxo de Navegação do Sistema</a:t>
            </a:r>
            <a:endParaRPr lang="pt-BR" sz="3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145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" name="Freeform 5"/>
          <p:cNvSpPr/>
          <p:nvPr/>
        </p:nvSpPr>
        <p:spPr>
          <a:xfrm>
            <a:off x="1028880" y="1028880"/>
            <a:ext cx="421200" cy="597600"/>
          </a:xfrm>
          <a:custGeom>
            <a:avLst/>
            <a:gdLst>
              <a:gd name="textAreaLeft" fmla="*/ 0 w 421200"/>
              <a:gd name="textAreaRight" fmla="*/ 422640 w 42120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22482" h="598880">
                <a:moveTo>
                  <a:pt x="0" y="0"/>
                </a:moveTo>
                <a:lnTo>
                  <a:pt x="422482" y="0"/>
                </a:lnTo>
                <a:lnTo>
                  <a:pt x="422482" y="598880"/>
                </a:lnTo>
                <a:lnTo>
                  <a:pt x="0" y="598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Freeform 6"/>
          <p:cNvSpPr/>
          <p:nvPr/>
        </p:nvSpPr>
        <p:spPr>
          <a:xfrm>
            <a:off x="1531440" y="1404720"/>
            <a:ext cx="221400" cy="221400"/>
          </a:xfrm>
          <a:custGeom>
            <a:avLst/>
            <a:gdLst>
              <a:gd name="textAreaLeft" fmla="*/ 0 w 221400"/>
              <a:gd name="textAreaRight" fmla="*/ 222840 w 221400"/>
              <a:gd name="textAreaTop" fmla="*/ 0 h 221400"/>
              <a:gd name="textAreaBottom" fmla="*/ 222840 h 221400"/>
            </a:gdLst>
            <a:ahLst/>
            <a:cxnLst/>
            <a:rect l="textAreaLeft" t="textAreaTop" r="textAreaRight" b="textAreaBottom"/>
            <a:pathLst>
              <a:path w="222904" h="222904">
                <a:moveTo>
                  <a:pt x="0" y="0"/>
                </a:moveTo>
                <a:lnTo>
                  <a:pt x="222904" y="0"/>
                </a:lnTo>
                <a:lnTo>
                  <a:pt x="222904" y="222905"/>
                </a:lnTo>
                <a:lnTo>
                  <a:pt x="0" y="2229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Freeform 7"/>
          <p:cNvSpPr/>
          <p:nvPr/>
        </p:nvSpPr>
        <p:spPr>
          <a:xfrm>
            <a:off x="1834920" y="1005120"/>
            <a:ext cx="462600" cy="621000"/>
          </a:xfrm>
          <a:custGeom>
            <a:avLst/>
            <a:gdLst>
              <a:gd name="textAreaLeft" fmla="*/ 0 w 462600"/>
              <a:gd name="textAreaRight" fmla="*/ 464040 w 462600"/>
              <a:gd name="textAreaTop" fmla="*/ 0 h 621000"/>
              <a:gd name="textAreaBottom" fmla="*/ 622440 h 621000"/>
            </a:gdLst>
            <a:ahLst/>
            <a:cxnLst/>
            <a:rect l="textAreaLeft" t="textAreaTop" r="textAreaRight" b="textAreaBottom"/>
            <a:pathLst>
              <a:path w="463955" h="622379">
                <a:moveTo>
                  <a:pt x="0" y="0"/>
                </a:moveTo>
                <a:lnTo>
                  <a:pt x="463955" y="0"/>
                </a:lnTo>
                <a:lnTo>
                  <a:pt x="463955" y="622379"/>
                </a:lnTo>
                <a:lnTo>
                  <a:pt x="0" y="6223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Freeform 8"/>
          <p:cNvSpPr/>
          <p:nvPr/>
        </p:nvSpPr>
        <p:spPr>
          <a:xfrm>
            <a:off x="3404520" y="1790640"/>
            <a:ext cx="11477520" cy="1229400"/>
          </a:xfrm>
          <a:custGeom>
            <a:avLst/>
            <a:gdLst>
              <a:gd name="textAreaLeft" fmla="*/ 0 w 11477520"/>
              <a:gd name="textAreaRight" fmla="*/ 11478960 w 11477520"/>
              <a:gd name="textAreaTop" fmla="*/ 0 h 1229400"/>
              <a:gd name="textAreaBottom" fmla="*/ 1230840 h 1229400"/>
            </a:gdLst>
            <a:ahLst/>
            <a:cxnLst/>
            <a:rect l="textAreaLeft" t="textAreaTop" r="textAreaRight" b="textAreaBottom"/>
            <a:pathLst>
              <a:path w="11479122" h="1230862">
                <a:moveTo>
                  <a:pt x="0" y="0"/>
                </a:moveTo>
                <a:lnTo>
                  <a:pt x="11479122" y="0"/>
                </a:lnTo>
                <a:lnTo>
                  <a:pt x="11479122" y="1230862"/>
                </a:lnTo>
                <a:lnTo>
                  <a:pt x="0" y="12308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Freeform 9"/>
          <p:cNvSpPr/>
          <p:nvPr/>
        </p:nvSpPr>
        <p:spPr>
          <a:xfrm>
            <a:off x="5195880" y="4144320"/>
            <a:ext cx="7894800" cy="5112360"/>
          </a:xfrm>
          <a:custGeom>
            <a:avLst/>
            <a:gdLst>
              <a:gd name="textAreaLeft" fmla="*/ 0 w 7894800"/>
              <a:gd name="textAreaRight" fmla="*/ 7896240 w 7894800"/>
              <a:gd name="textAreaTop" fmla="*/ 0 h 5112360"/>
              <a:gd name="textAreaBottom" fmla="*/ 5113800 h 5112360"/>
            </a:gdLst>
            <a:ahLst/>
            <a:cxnLst/>
            <a:rect l="textAreaLeft" t="textAreaTop" r="textAreaRight" b="textAreaBottom"/>
            <a:pathLst>
              <a:path w="7896158" h="5113887">
                <a:moveTo>
                  <a:pt x="0" y="0"/>
                </a:moveTo>
                <a:lnTo>
                  <a:pt x="7896158" y="0"/>
                </a:lnTo>
                <a:lnTo>
                  <a:pt x="7896158" y="5113887"/>
                </a:lnTo>
                <a:lnTo>
                  <a:pt x="0" y="51138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2516040" y="980280"/>
            <a:ext cx="378288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561"/>
              </a:lnSpc>
            </a:pPr>
            <a:r>
              <a:rPr lang="en-US" sz="32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Wareframes</a:t>
            </a:r>
            <a:endParaRPr lang="pt-BR" sz="3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1028880" y="3485880"/>
            <a:ext cx="4318920" cy="4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283"/>
              </a:lnSpc>
            </a:pPr>
            <a:r>
              <a:rPr lang="en-US" sz="234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Demonstração do Fluxograma::</a:t>
            </a:r>
            <a:endParaRPr lang="pt-BR" sz="2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155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7" name="Freeform 5"/>
          <p:cNvSpPr/>
          <p:nvPr/>
        </p:nvSpPr>
        <p:spPr>
          <a:xfrm>
            <a:off x="828360" y="887760"/>
            <a:ext cx="670680" cy="803880"/>
          </a:xfrm>
          <a:custGeom>
            <a:avLst/>
            <a:gdLst>
              <a:gd name="textAreaLeft" fmla="*/ 0 w 670680"/>
              <a:gd name="textAreaRight" fmla="*/ 672120 w 670680"/>
              <a:gd name="textAreaTop" fmla="*/ 0 h 803880"/>
              <a:gd name="textAreaBottom" fmla="*/ 805320 h 803880"/>
            </a:gdLst>
            <a:ahLst/>
            <a:cxnLst/>
            <a:rect l="textAreaLeft" t="textAreaTop" r="textAreaRight" b="textAreaBottom"/>
            <a:pathLst>
              <a:path w="672020" h="805252">
                <a:moveTo>
                  <a:pt x="0" y="0"/>
                </a:moveTo>
                <a:lnTo>
                  <a:pt x="672019" y="0"/>
                </a:lnTo>
                <a:lnTo>
                  <a:pt x="672019" y="805252"/>
                </a:lnTo>
                <a:lnTo>
                  <a:pt x="0" y="8052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AutoShape 6"/>
          <p:cNvSpPr/>
          <p:nvPr/>
        </p:nvSpPr>
        <p:spPr>
          <a:xfrm>
            <a:off x="680400" y="210888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9" name="Group 7"/>
          <p:cNvGrpSpPr/>
          <p:nvPr/>
        </p:nvGrpSpPr>
        <p:grpSpPr>
          <a:xfrm>
            <a:off x="828360" y="2108880"/>
            <a:ext cx="4200480" cy="603000"/>
            <a:chOff x="828360" y="2108880"/>
            <a:chExt cx="4200480" cy="603000"/>
          </a:xfrm>
        </p:grpSpPr>
        <p:sp>
          <p:nvSpPr>
            <p:cNvPr id="160" name="Freeform 8"/>
            <p:cNvSpPr/>
            <p:nvPr/>
          </p:nvSpPr>
          <p:spPr>
            <a:xfrm>
              <a:off x="828360" y="2108880"/>
              <a:ext cx="529920" cy="524520"/>
            </a:xfrm>
            <a:custGeom>
              <a:avLst/>
              <a:gdLst>
                <a:gd name="textAreaLeft" fmla="*/ 0 w 529920"/>
                <a:gd name="textAreaRight" fmla="*/ 531360 w 529920"/>
                <a:gd name="textAreaTop" fmla="*/ 0 h 524520"/>
                <a:gd name="textAreaBottom" fmla="*/ 525960 h 524520"/>
              </a:gdLst>
              <a:ahLst/>
              <a:cxnLst/>
              <a:rect l="textAreaLeft" t="textAreaTop" r="textAreaRight" b="textAreaBottom"/>
              <a:pathLst>
                <a:path w="585090" h="701089">
                  <a:moveTo>
                    <a:pt x="0" y="0"/>
                  </a:moveTo>
                  <a:lnTo>
                    <a:pt x="585090" y="0"/>
                  </a:lnTo>
                  <a:lnTo>
                    <a:pt x="585090" y="701089"/>
                  </a:lnTo>
                  <a:lnTo>
                    <a:pt x="0" y="70108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 9"/>
            <p:cNvSpPr/>
            <p:nvPr/>
          </p:nvSpPr>
          <p:spPr>
            <a:xfrm>
              <a:off x="1737000" y="2108880"/>
              <a:ext cx="430200" cy="524520"/>
            </a:xfrm>
            <a:custGeom>
              <a:avLst/>
              <a:gdLst>
                <a:gd name="textAreaLeft" fmla="*/ 0 w 430200"/>
                <a:gd name="textAreaRight" fmla="*/ 431640 w 430200"/>
                <a:gd name="textAreaTop" fmla="*/ 0 h 524520"/>
                <a:gd name="textAreaBottom" fmla="*/ 525960 h 524520"/>
              </a:gdLst>
              <a:ahLst/>
              <a:cxnLst/>
              <a:rect l="textAreaLeft" t="textAreaTop" r="textAreaRight" b="textAreaBottom"/>
              <a:pathLst>
                <a:path w="475466" h="701089">
                  <a:moveTo>
                    <a:pt x="0" y="0"/>
                  </a:moveTo>
                  <a:lnTo>
                    <a:pt x="475466" y="0"/>
                  </a:lnTo>
                  <a:lnTo>
                    <a:pt x="475466" y="701089"/>
                  </a:lnTo>
                  <a:lnTo>
                    <a:pt x="0" y="70108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Freeform 10"/>
            <p:cNvSpPr/>
            <p:nvPr/>
          </p:nvSpPr>
          <p:spPr>
            <a:xfrm>
              <a:off x="1429920" y="2439000"/>
              <a:ext cx="235440" cy="194400"/>
            </a:xfrm>
            <a:custGeom>
              <a:avLst/>
              <a:gdLst>
                <a:gd name="textAreaLeft" fmla="*/ 0 w 235440"/>
                <a:gd name="textAreaRight" fmla="*/ 236880 w 235440"/>
                <a:gd name="textAreaTop" fmla="*/ 0 h 194400"/>
                <a:gd name="textAreaBottom" fmla="*/ 195840 h 194400"/>
              </a:gdLst>
              <a:ahLst/>
              <a:cxnLst/>
              <a:rect l="textAreaLeft" t="textAreaTop" r="textAreaRight" b="textAreaBottom"/>
              <a:pathLst>
                <a:path w="260947" h="260947">
                  <a:moveTo>
                    <a:pt x="0" y="0"/>
                  </a:moveTo>
                  <a:lnTo>
                    <a:pt x="260947" y="0"/>
                  </a:lnTo>
                  <a:lnTo>
                    <a:pt x="260947" y="260947"/>
                  </a:lnTo>
                  <a:lnTo>
                    <a:pt x="0" y="26094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TextBox 11"/>
            <p:cNvSpPr/>
            <p:nvPr/>
          </p:nvSpPr>
          <p:spPr>
            <a:xfrm>
              <a:off x="2365560" y="2178720"/>
              <a:ext cx="2663280" cy="5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defTabSz="914400">
                <a:lnSpc>
                  <a:spcPts val="4005"/>
                </a:lnSpc>
              </a:pPr>
              <a:r>
                <a:rPr lang="en-US" sz="286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Tela Principal</a:t>
              </a:r>
              <a:endParaRPr lang="pt-BR" sz="286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4" name="Group 12"/>
          <p:cNvGrpSpPr/>
          <p:nvPr/>
        </p:nvGrpSpPr>
        <p:grpSpPr>
          <a:xfrm>
            <a:off x="2845080" y="2713320"/>
            <a:ext cx="13369320" cy="6852600"/>
            <a:chOff x="2845080" y="2713320"/>
            <a:chExt cx="13369320" cy="6852600"/>
          </a:xfrm>
        </p:grpSpPr>
        <p:sp>
          <p:nvSpPr>
            <p:cNvPr id="165" name="Freeform 13"/>
            <p:cNvSpPr/>
            <p:nvPr/>
          </p:nvSpPr>
          <p:spPr>
            <a:xfrm>
              <a:off x="2845080" y="2713320"/>
              <a:ext cx="13369320" cy="6852600"/>
            </a:xfrm>
            <a:custGeom>
              <a:avLst/>
              <a:gdLst>
                <a:gd name="textAreaLeft" fmla="*/ 0 w 13369320"/>
                <a:gd name="textAreaRight" fmla="*/ 13370760 w 13369320"/>
                <a:gd name="textAreaTop" fmla="*/ 0 h 6852600"/>
                <a:gd name="textAreaBottom" fmla="*/ 6854040 h 6852600"/>
              </a:gdLst>
              <a:ahLst/>
              <a:cxnLst/>
              <a:rect l="textAreaLeft" t="textAreaTop" r="textAreaRight" b="textAreaBottom"/>
              <a:pathLst>
                <a:path w="1809789" h="927710">
                  <a:moveTo>
                    <a:pt x="13317" y="0"/>
                  </a:moveTo>
                  <a:lnTo>
                    <a:pt x="1796472" y="0"/>
                  </a:lnTo>
                  <a:cubicBezTo>
                    <a:pt x="1800004" y="0"/>
                    <a:pt x="1803391" y="1403"/>
                    <a:pt x="1805888" y="3901"/>
                  </a:cubicBezTo>
                  <a:cubicBezTo>
                    <a:pt x="1808386" y="6398"/>
                    <a:pt x="1809789" y="9785"/>
                    <a:pt x="1809789" y="13317"/>
                  </a:cubicBezTo>
                  <a:lnTo>
                    <a:pt x="1809789" y="914393"/>
                  </a:lnTo>
                  <a:cubicBezTo>
                    <a:pt x="1809789" y="921748"/>
                    <a:pt x="1803827" y="927710"/>
                    <a:pt x="1796472" y="927710"/>
                  </a:cubicBezTo>
                  <a:lnTo>
                    <a:pt x="13317" y="927710"/>
                  </a:lnTo>
                  <a:cubicBezTo>
                    <a:pt x="5962" y="927710"/>
                    <a:pt x="0" y="921748"/>
                    <a:pt x="0" y="914393"/>
                  </a:cubicBezTo>
                  <a:lnTo>
                    <a:pt x="0" y="13317"/>
                  </a:lnTo>
                  <a:cubicBezTo>
                    <a:pt x="0" y="5962"/>
                    <a:pt x="5962" y="0"/>
                    <a:pt x="13317" y="0"/>
                  </a:cubicBez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6" name="TextBox 14"/>
          <p:cNvSpPr/>
          <p:nvPr/>
        </p:nvSpPr>
        <p:spPr>
          <a:xfrm>
            <a:off x="1637280" y="738360"/>
            <a:ext cx="664200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Interface de Usuário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168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0" name="Group 5"/>
          <p:cNvGrpSpPr/>
          <p:nvPr/>
        </p:nvGrpSpPr>
        <p:grpSpPr>
          <a:xfrm>
            <a:off x="1028880" y="1028880"/>
            <a:ext cx="5090040" cy="597600"/>
            <a:chOff x="1028880" y="1028880"/>
            <a:chExt cx="5090040" cy="597600"/>
          </a:xfrm>
        </p:grpSpPr>
        <p:sp>
          <p:nvSpPr>
            <p:cNvPr id="171" name="Freeform 6"/>
            <p:cNvSpPr/>
            <p:nvPr/>
          </p:nvSpPr>
          <p:spPr>
            <a:xfrm>
              <a:off x="1028880" y="1028880"/>
              <a:ext cx="522720" cy="597600"/>
            </a:xfrm>
            <a:custGeom>
              <a:avLst/>
              <a:gdLst>
                <a:gd name="textAreaLeft" fmla="*/ 0 w 522720"/>
                <a:gd name="textAreaRight" fmla="*/ 524160 w 522720"/>
                <a:gd name="textAreaTop" fmla="*/ 0 h 597600"/>
                <a:gd name="textAreaBottom" fmla="*/ 599040 h 597600"/>
              </a:gdLst>
              <a:ahLst/>
              <a:cxnLst/>
              <a:rect l="textAreaLeft" t="textAreaTop" r="textAreaRight" b="textAreaBottom"/>
              <a:pathLst>
                <a:path w="666390" h="798506">
                  <a:moveTo>
                    <a:pt x="0" y="0"/>
                  </a:moveTo>
                  <a:lnTo>
                    <a:pt x="666390" y="0"/>
                  </a:lnTo>
                  <a:lnTo>
                    <a:pt x="666390" y="798506"/>
                  </a:lnTo>
                  <a:lnTo>
                    <a:pt x="0" y="79850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Freeform 7"/>
            <p:cNvSpPr/>
            <p:nvPr/>
          </p:nvSpPr>
          <p:spPr>
            <a:xfrm>
              <a:off x="1684440" y="1404720"/>
              <a:ext cx="232200" cy="221400"/>
            </a:xfrm>
            <a:custGeom>
              <a:avLst/>
              <a:gdLst>
                <a:gd name="textAreaLeft" fmla="*/ 0 w 232200"/>
                <a:gd name="textAreaRight" fmla="*/ 233640 w 232200"/>
                <a:gd name="textAreaTop" fmla="*/ 0 h 221400"/>
                <a:gd name="textAreaBottom" fmla="*/ 222840 h 221400"/>
              </a:gdLst>
              <a:ahLst/>
              <a:cxnLst/>
              <a:rect l="textAreaLeft" t="textAreaTop" r="textAreaRight" b="textAreaBottom"/>
              <a:pathLst>
                <a:path w="297205" h="297205">
                  <a:moveTo>
                    <a:pt x="0" y="0"/>
                  </a:moveTo>
                  <a:lnTo>
                    <a:pt x="297206" y="0"/>
                  </a:lnTo>
                  <a:lnTo>
                    <a:pt x="297206" y="297205"/>
                  </a:lnTo>
                  <a:lnTo>
                    <a:pt x="0" y="29720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Freeform 8"/>
            <p:cNvSpPr/>
            <p:nvPr/>
          </p:nvSpPr>
          <p:spPr>
            <a:xfrm>
              <a:off x="2048040" y="1028880"/>
              <a:ext cx="466920" cy="597600"/>
            </a:xfrm>
            <a:custGeom>
              <a:avLst/>
              <a:gdLst>
                <a:gd name="textAreaLeft" fmla="*/ 0 w 466920"/>
                <a:gd name="textAreaRight" fmla="*/ 468360 w 466920"/>
                <a:gd name="textAreaTop" fmla="*/ 0 h 597600"/>
                <a:gd name="textAreaBottom" fmla="*/ 599040 h 597600"/>
              </a:gdLst>
              <a:ahLst/>
              <a:cxnLst/>
              <a:rect l="textAreaLeft" t="textAreaTop" r="textAreaRight" b="textAreaBottom"/>
              <a:pathLst>
                <a:path w="595250" h="798506">
                  <a:moveTo>
                    <a:pt x="0" y="0"/>
                  </a:moveTo>
                  <a:lnTo>
                    <a:pt x="595250" y="0"/>
                  </a:lnTo>
                  <a:lnTo>
                    <a:pt x="595250" y="798506"/>
                  </a:lnTo>
                  <a:lnTo>
                    <a:pt x="0" y="79850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TextBox 9"/>
            <p:cNvSpPr/>
            <p:nvPr/>
          </p:nvSpPr>
          <p:spPr>
            <a:xfrm>
              <a:off x="2646360" y="1042920"/>
              <a:ext cx="3472560" cy="57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defTabSz="914400">
                <a:lnSpc>
                  <a:spcPts val="4561"/>
                </a:lnSpc>
              </a:pPr>
              <a:r>
                <a:rPr lang="en-US" sz="325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Tela de Cadastro</a:t>
              </a:r>
              <a:endParaRPr lang="pt-BR" sz="32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" name="Group 10"/>
          <p:cNvGrpSpPr/>
          <p:nvPr/>
        </p:nvGrpSpPr>
        <p:grpSpPr>
          <a:xfrm>
            <a:off x="2538720" y="1886040"/>
            <a:ext cx="14115960" cy="7371000"/>
            <a:chOff x="2538720" y="1886040"/>
            <a:chExt cx="14115960" cy="7371000"/>
          </a:xfrm>
        </p:grpSpPr>
        <p:sp>
          <p:nvSpPr>
            <p:cNvPr id="176" name="Freeform 11"/>
            <p:cNvSpPr/>
            <p:nvPr/>
          </p:nvSpPr>
          <p:spPr>
            <a:xfrm>
              <a:off x="2538720" y="1886040"/>
              <a:ext cx="14115960" cy="7371000"/>
            </a:xfrm>
            <a:custGeom>
              <a:avLst/>
              <a:gdLst>
                <a:gd name="textAreaLeft" fmla="*/ 0 w 14115960"/>
                <a:gd name="textAreaRight" fmla="*/ 14117400 w 14115960"/>
                <a:gd name="textAreaTop" fmla="*/ 0 h 7371000"/>
                <a:gd name="textAreaBottom" fmla="*/ 7372440 h 7371000"/>
              </a:gdLst>
              <a:ahLst/>
              <a:cxnLst/>
              <a:rect l="textAreaLeft" t="textAreaTop" r="textAreaRight" b="textAreaBottom"/>
              <a:pathLst>
                <a:path w="1556451" h="812800">
                  <a:moveTo>
                    <a:pt x="12613" y="0"/>
                  </a:moveTo>
                  <a:lnTo>
                    <a:pt x="1543838" y="0"/>
                  </a:lnTo>
                  <a:cubicBezTo>
                    <a:pt x="1547183" y="0"/>
                    <a:pt x="1550391" y="1329"/>
                    <a:pt x="1552756" y="3694"/>
                  </a:cubicBezTo>
                  <a:cubicBezTo>
                    <a:pt x="1555122" y="6060"/>
                    <a:pt x="1556451" y="9268"/>
                    <a:pt x="1556451" y="12613"/>
                  </a:cubicBezTo>
                  <a:lnTo>
                    <a:pt x="1556451" y="800187"/>
                  </a:lnTo>
                  <a:cubicBezTo>
                    <a:pt x="1556451" y="803532"/>
                    <a:pt x="1555122" y="806740"/>
                    <a:pt x="1552756" y="809106"/>
                  </a:cubicBezTo>
                  <a:cubicBezTo>
                    <a:pt x="1550391" y="811471"/>
                    <a:pt x="1547183" y="812800"/>
                    <a:pt x="1543838" y="812800"/>
                  </a:cubicBezTo>
                  <a:lnTo>
                    <a:pt x="12613" y="812800"/>
                  </a:lnTo>
                  <a:cubicBezTo>
                    <a:pt x="9268" y="812800"/>
                    <a:pt x="6060" y="811471"/>
                    <a:pt x="3694" y="809106"/>
                  </a:cubicBezTo>
                  <a:cubicBezTo>
                    <a:pt x="1329" y="806740"/>
                    <a:pt x="0" y="803532"/>
                    <a:pt x="0" y="800187"/>
                  </a:cubicBezTo>
                  <a:lnTo>
                    <a:pt x="0" y="12613"/>
                  </a:lnTo>
                  <a:cubicBezTo>
                    <a:pt x="0" y="9268"/>
                    <a:pt x="1329" y="6060"/>
                    <a:pt x="3694" y="3694"/>
                  </a:cubicBezTo>
                  <a:cubicBezTo>
                    <a:pt x="6060" y="1329"/>
                    <a:pt x="9268" y="0"/>
                    <a:pt x="12613" y="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178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0" name="Freeform 5"/>
          <p:cNvSpPr/>
          <p:nvPr/>
        </p:nvSpPr>
        <p:spPr>
          <a:xfrm>
            <a:off x="1028880" y="1028880"/>
            <a:ext cx="498240" cy="597600"/>
          </a:xfrm>
          <a:custGeom>
            <a:avLst/>
            <a:gdLst>
              <a:gd name="textAreaLeft" fmla="*/ 0 w 498240"/>
              <a:gd name="textAreaRight" fmla="*/ 499680 w 49824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99792" h="598880">
                <a:moveTo>
                  <a:pt x="0" y="0"/>
                </a:moveTo>
                <a:lnTo>
                  <a:pt x="499792" y="0"/>
                </a:lnTo>
                <a:lnTo>
                  <a:pt x="499792" y="598880"/>
                </a:lnTo>
                <a:lnTo>
                  <a:pt x="0" y="598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Freeform 6"/>
          <p:cNvSpPr/>
          <p:nvPr/>
        </p:nvSpPr>
        <p:spPr>
          <a:xfrm>
            <a:off x="1653840" y="1404720"/>
            <a:ext cx="221400" cy="221400"/>
          </a:xfrm>
          <a:custGeom>
            <a:avLst/>
            <a:gdLst>
              <a:gd name="textAreaLeft" fmla="*/ 0 w 221400"/>
              <a:gd name="textAreaRight" fmla="*/ 222840 w 221400"/>
              <a:gd name="textAreaTop" fmla="*/ 0 h 221400"/>
              <a:gd name="textAreaBottom" fmla="*/ 222840 h 221400"/>
            </a:gdLst>
            <a:ahLst/>
            <a:cxnLst/>
            <a:rect l="textAreaLeft" t="textAreaTop" r="textAreaRight" b="textAreaBottom"/>
            <a:pathLst>
              <a:path w="222904" h="222904">
                <a:moveTo>
                  <a:pt x="0" y="0"/>
                </a:moveTo>
                <a:lnTo>
                  <a:pt x="222904" y="0"/>
                </a:lnTo>
                <a:lnTo>
                  <a:pt x="222904" y="222905"/>
                </a:lnTo>
                <a:lnTo>
                  <a:pt x="0" y="2229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Freeform 7"/>
          <p:cNvSpPr/>
          <p:nvPr/>
        </p:nvSpPr>
        <p:spPr>
          <a:xfrm>
            <a:off x="2000520" y="1041840"/>
            <a:ext cx="411840" cy="584280"/>
          </a:xfrm>
          <a:custGeom>
            <a:avLst/>
            <a:gdLst>
              <a:gd name="textAreaLeft" fmla="*/ 0 w 411840"/>
              <a:gd name="textAreaRight" fmla="*/ 413280 w 411840"/>
              <a:gd name="textAreaTop" fmla="*/ 0 h 584280"/>
              <a:gd name="textAreaBottom" fmla="*/ 585720 h 584280"/>
            </a:gdLst>
            <a:ahLst/>
            <a:cxnLst/>
            <a:rect l="textAreaLeft" t="textAreaTop" r="textAreaRight" b="textAreaBottom"/>
            <a:pathLst>
              <a:path w="413103" h="585584">
                <a:moveTo>
                  <a:pt x="0" y="0"/>
                </a:moveTo>
                <a:lnTo>
                  <a:pt x="413103" y="0"/>
                </a:lnTo>
                <a:lnTo>
                  <a:pt x="413103" y="585585"/>
                </a:lnTo>
                <a:lnTo>
                  <a:pt x="0" y="5855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" name="Group 8"/>
          <p:cNvGrpSpPr/>
          <p:nvPr/>
        </p:nvGrpSpPr>
        <p:grpSpPr>
          <a:xfrm>
            <a:off x="2413800" y="1897200"/>
            <a:ext cx="13745880" cy="6911280"/>
            <a:chOff x="2413800" y="1897200"/>
            <a:chExt cx="13745880" cy="6911280"/>
          </a:xfrm>
        </p:grpSpPr>
        <p:sp>
          <p:nvSpPr>
            <p:cNvPr id="184" name="Freeform 9"/>
            <p:cNvSpPr/>
            <p:nvPr/>
          </p:nvSpPr>
          <p:spPr>
            <a:xfrm>
              <a:off x="2413800" y="1897200"/>
              <a:ext cx="13745880" cy="6911280"/>
            </a:xfrm>
            <a:custGeom>
              <a:avLst/>
              <a:gdLst>
                <a:gd name="textAreaLeft" fmla="*/ 0 w 13745880"/>
                <a:gd name="textAreaRight" fmla="*/ 13747320 w 13745880"/>
                <a:gd name="textAreaTop" fmla="*/ 0 h 6911280"/>
                <a:gd name="textAreaBottom" fmla="*/ 6912720 h 6911280"/>
              </a:gdLst>
              <a:ahLst/>
              <a:cxnLst/>
              <a:rect l="textAreaLeft" t="textAreaTop" r="textAreaRight" b="textAreaBottom"/>
              <a:pathLst>
                <a:path w="1616398" h="812800">
                  <a:moveTo>
                    <a:pt x="12953" y="0"/>
                  </a:moveTo>
                  <a:lnTo>
                    <a:pt x="1603446" y="0"/>
                  </a:lnTo>
                  <a:cubicBezTo>
                    <a:pt x="1606881" y="0"/>
                    <a:pt x="1610175" y="1365"/>
                    <a:pt x="1612605" y="3794"/>
                  </a:cubicBezTo>
                  <a:cubicBezTo>
                    <a:pt x="1615034" y="6223"/>
                    <a:pt x="1616398" y="9517"/>
                    <a:pt x="1616398" y="12953"/>
                  </a:cubicBezTo>
                  <a:lnTo>
                    <a:pt x="1616398" y="799847"/>
                  </a:lnTo>
                  <a:cubicBezTo>
                    <a:pt x="1616398" y="803283"/>
                    <a:pt x="1615034" y="806577"/>
                    <a:pt x="1612605" y="809006"/>
                  </a:cubicBezTo>
                  <a:cubicBezTo>
                    <a:pt x="1610175" y="811435"/>
                    <a:pt x="1606881" y="812800"/>
                    <a:pt x="1603446" y="812800"/>
                  </a:cubicBezTo>
                  <a:lnTo>
                    <a:pt x="12953" y="812800"/>
                  </a:lnTo>
                  <a:cubicBezTo>
                    <a:pt x="9517" y="812800"/>
                    <a:pt x="6223" y="811435"/>
                    <a:pt x="3794" y="809006"/>
                  </a:cubicBezTo>
                  <a:cubicBezTo>
                    <a:pt x="1365" y="806577"/>
                    <a:pt x="0" y="803283"/>
                    <a:pt x="0" y="799847"/>
                  </a:cubicBezTo>
                  <a:lnTo>
                    <a:pt x="0" y="12953"/>
                  </a:lnTo>
                  <a:cubicBezTo>
                    <a:pt x="0" y="9517"/>
                    <a:pt x="1365" y="6223"/>
                    <a:pt x="3794" y="3794"/>
                  </a:cubicBezTo>
                  <a:cubicBezTo>
                    <a:pt x="6223" y="1365"/>
                    <a:pt x="9517" y="0"/>
                    <a:pt x="12953" y="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TextBox 10"/>
          <p:cNvSpPr/>
          <p:nvPr/>
        </p:nvSpPr>
        <p:spPr>
          <a:xfrm>
            <a:off x="2570760" y="1004760"/>
            <a:ext cx="33681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561"/>
              </a:lnSpc>
            </a:pPr>
            <a:r>
              <a:rPr lang="en-US" sz="32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Tela de Login</a:t>
            </a:r>
            <a:endParaRPr lang="pt-BR" sz="3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187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" name="Freeform 5"/>
          <p:cNvSpPr/>
          <p:nvPr/>
        </p:nvSpPr>
        <p:spPr>
          <a:xfrm>
            <a:off x="1028880" y="1028880"/>
            <a:ext cx="498240" cy="597600"/>
          </a:xfrm>
          <a:custGeom>
            <a:avLst/>
            <a:gdLst>
              <a:gd name="textAreaLeft" fmla="*/ 0 w 498240"/>
              <a:gd name="textAreaRight" fmla="*/ 499680 w 49824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99792" h="598880">
                <a:moveTo>
                  <a:pt x="0" y="0"/>
                </a:moveTo>
                <a:lnTo>
                  <a:pt x="499792" y="0"/>
                </a:lnTo>
                <a:lnTo>
                  <a:pt x="499792" y="598880"/>
                </a:lnTo>
                <a:lnTo>
                  <a:pt x="0" y="598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Freeform 6"/>
          <p:cNvSpPr/>
          <p:nvPr/>
        </p:nvSpPr>
        <p:spPr>
          <a:xfrm>
            <a:off x="1653840" y="1404720"/>
            <a:ext cx="221400" cy="221400"/>
          </a:xfrm>
          <a:custGeom>
            <a:avLst/>
            <a:gdLst>
              <a:gd name="textAreaLeft" fmla="*/ 0 w 221400"/>
              <a:gd name="textAreaRight" fmla="*/ 222840 w 221400"/>
              <a:gd name="textAreaTop" fmla="*/ 0 h 221400"/>
              <a:gd name="textAreaBottom" fmla="*/ 222840 h 221400"/>
            </a:gdLst>
            <a:ahLst/>
            <a:cxnLst/>
            <a:rect l="textAreaLeft" t="textAreaTop" r="textAreaRight" b="textAreaBottom"/>
            <a:pathLst>
              <a:path w="222904" h="222904">
                <a:moveTo>
                  <a:pt x="0" y="0"/>
                </a:moveTo>
                <a:lnTo>
                  <a:pt x="222904" y="0"/>
                </a:lnTo>
                <a:lnTo>
                  <a:pt x="222904" y="222905"/>
                </a:lnTo>
                <a:lnTo>
                  <a:pt x="0" y="2229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Freeform 7"/>
          <p:cNvSpPr/>
          <p:nvPr/>
        </p:nvSpPr>
        <p:spPr>
          <a:xfrm>
            <a:off x="2000520" y="1028880"/>
            <a:ext cx="498240" cy="597600"/>
          </a:xfrm>
          <a:custGeom>
            <a:avLst/>
            <a:gdLst>
              <a:gd name="textAreaLeft" fmla="*/ 0 w 498240"/>
              <a:gd name="textAreaRight" fmla="*/ 499680 w 49824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99792" h="598880">
                <a:moveTo>
                  <a:pt x="0" y="0"/>
                </a:moveTo>
                <a:lnTo>
                  <a:pt x="499792" y="0"/>
                </a:lnTo>
                <a:lnTo>
                  <a:pt x="499792" y="598880"/>
                </a:lnTo>
                <a:lnTo>
                  <a:pt x="0" y="598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2" name="Group 8"/>
          <p:cNvGrpSpPr/>
          <p:nvPr/>
        </p:nvGrpSpPr>
        <p:grpSpPr>
          <a:xfrm>
            <a:off x="932400" y="3353760"/>
            <a:ext cx="4942440" cy="4412160"/>
            <a:chOff x="932400" y="3353760"/>
            <a:chExt cx="4942440" cy="4412160"/>
          </a:xfrm>
        </p:grpSpPr>
        <p:sp>
          <p:nvSpPr>
            <p:cNvPr id="193" name="Freeform 9"/>
            <p:cNvSpPr/>
            <p:nvPr/>
          </p:nvSpPr>
          <p:spPr>
            <a:xfrm>
              <a:off x="932400" y="3353760"/>
              <a:ext cx="4942440" cy="4412160"/>
            </a:xfrm>
            <a:custGeom>
              <a:avLst/>
              <a:gdLst>
                <a:gd name="textAreaLeft" fmla="*/ 0 w 4942440"/>
                <a:gd name="textAreaRight" fmla="*/ 4943880 w 4942440"/>
                <a:gd name="textAreaTop" fmla="*/ 0 h 4412160"/>
                <a:gd name="textAreaBottom" fmla="*/ 4413600 h 4412160"/>
              </a:gdLst>
              <a:ahLst/>
              <a:cxnLst/>
              <a:rect l="textAreaLeft" t="textAreaTop" r="textAreaRight" b="textAreaBottom"/>
              <a:pathLst>
                <a:path w="910451" h="812800">
                  <a:moveTo>
                    <a:pt x="36017" y="0"/>
                  </a:moveTo>
                  <a:lnTo>
                    <a:pt x="874434" y="0"/>
                  </a:lnTo>
                  <a:cubicBezTo>
                    <a:pt x="883987" y="0"/>
                    <a:pt x="893148" y="3795"/>
                    <a:pt x="899902" y="10549"/>
                  </a:cubicBezTo>
                  <a:cubicBezTo>
                    <a:pt x="906656" y="17303"/>
                    <a:pt x="910451" y="26464"/>
                    <a:pt x="910451" y="36017"/>
                  </a:cubicBezTo>
                  <a:lnTo>
                    <a:pt x="910451" y="776783"/>
                  </a:lnTo>
                  <a:cubicBezTo>
                    <a:pt x="910451" y="796675"/>
                    <a:pt x="894326" y="812800"/>
                    <a:pt x="874434" y="812800"/>
                  </a:cubicBezTo>
                  <a:lnTo>
                    <a:pt x="36017" y="812800"/>
                  </a:lnTo>
                  <a:cubicBezTo>
                    <a:pt x="16125" y="812800"/>
                    <a:pt x="0" y="796675"/>
                    <a:pt x="0" y="776783"/>
                  </a:cubicBezTo>
                  <a:lnTo>
                    <a:pt x="0" y="36017"/>
                  </a:lnTo>
                  <a:cubicBezTo>
                    <a:pt x="0" y="16125"/>
                    <a:pt x="16125" y="0"/>
                    <a:pt x="36017" y="0"/>
                  </a:cubicBez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4" name="Group 10"/>
          <p:cNvGrpSpPr/>
          <p:nvPr/>
        </p:nvGrpSpPr>
        <p:grpSpPr>
          <a:xfrm>
            <a:off x="6514560" y="1515960"/>
            <a:ext cx="3933720" cy="8020800"/>
            <a:chOff x="6514560" y="1515960"/>
            <a:chExt cx="3933720" cy="8020800"/>
          </a:xfrm>
        </p:grpSpPr>
        <p:sp>
          <p:nvSpPr>
            <p:cNvPr id="195" name="Freeform 11"/>
            <p:cNvSpPr/>
            <p:nvPr/>
          </p:nvSpPr>
          <p:spPr>
            <a:xfrm>
              <a:off x="6514560" y="1515960"/>
              <a:ext cx="3933720" cy="8020800"/>
            </a:xfrm>
            <a:custGeom>
              <a:avLst/>
              <a:gdLst>
                <a:gd name="textAreaLeft" fmla="*/ 0 w 3933720"/>
                <a:gd name="textAreaRight" fmla="*/ 3935160 w 3933720"/>
                <a:gd name="textAreaTop" fmla="*/ 0 h 8020800"/>
                <a:gd name="textAreaBottom" fmla="*/ 8022240 h 8020800"/>
              </a:gdLst>
              <a:ahLst/>
              <a:cxnLst/>
              <a:rect l="textAreaLeft" t="textAreaTop" r="textAreaRight" b="textAreaBottom"/>
              <a:pathLst>
                <a:path w="812800" h="1657012">
                  <a:moveTo>
                    <a:pt x="45251" y="0"/>
                  </a:moveTo>
                  <a:lnTo>
                    <a:pt x="767549" y="0"/>
                  </a:lnTo>
                  <a:cubicBezTo>
                    <a:pt x="779551" y="0"/>
                    <a:pt x="791060" y="4767"/>
                    <a:pt x="799546" y="13254"/>
                  </a:cubicBezTo>
                  <a:cubicBezTo>
                    <a:pt x="808033" y="21740"/>
                    <a:pt x="812800" y="33249"/>
                    <a:pt x="812800" y="45251"/>
                  </a:cubicBezTo>
                  <a:lnTo>
                    <a:pt x="812800" y="1611761"/>
                  </a:lnTo>
                  <a:cubicBezTo>
                    <a:pt x="812800" y="1636752"/>
                    <a:pt x="792541" y="1657012"/>
                    <a:pt x="767549" y="1657012"/>
                  </a:cubicBezTo>
                  <a:lnTo>
                    <a:pt x="45251" y="1657012"/>
                  </a:lnTo>
                  <a:cubicBezTo>
                    <a:pt x="33249" y="1657012"/>
                    <a:pt x="21740" y="1652244"/>
                    <a:pt x="13254" y="1643758"/>
                  </a:cubicBezTo>
                  <a:cubicBezTo>
                    <a:pt x="4767" y="1635272"/>
                    <a:pt x="0" y="1623762"/>
                    <a:pt x="0" y="1611761"/>
                  </a:cubicBezTo>
                  <a:lnTo>
                    <a:pt x="0" y="45251"/>
                  </a:lnTo>
                  <a:cubicBezTo>
                    <a:pt x="0" y="33249"/>
                    <a:pt x="4767" y="21740"/>
                    <a:pt x="13254" y="13254"/>
                  </a:cubicBezTo>
                  <a:cubicBezTo>
                    <a:pt x="21740" y="4767"/>
                    <a:pt x="33249" y="0"/>
                    <a:pt x="45251" y="0"/>
                  </a:cubicBez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6" name="Group 12"/>
          <p:cNvGrpSpPr/>
          <p:nvPr/>
        </p:nvGrpSpPr>
        <p:grpSpPr>
          <a:xfrm>
            <a:off x="11309400" y="1404720"/>
            <a:ext cx="4267440" cy="8020800"/>
            <a:chOff x="11309400" y="1404720"/>
            <a:chExt cx="4267440" cy="8020800"/>
          </a:xfrm>
        </p:grpSpPr>
        <p:sp>
          <p:nvSpPr>
            <p:cNvPr id="197" name="Freeform 13"/>
            <p:cNvSpPr/>
            <p:nvPr/>
          </p:nvSpPr>
          <p:spPr>
            <a:xfrm>
              <a:off x="11309400" y="1404720"/>
              <a:ext cx="4267440" cy="8020800"/>
            </a:xfrm>
            <a:custGeom>
              <a:avLst/>
              <a:gdLst>
                <a:gd name="textAreaLeft" fmla="*/ 0 w 4267440"/>
                <a:gd name="textAreaRight" fmla="*/ 4268880 w 4267440"/>
                <a:gd name="textAreaTop" fmla="*/ 0 h 8020800"/>
                <a:gd name="textAreaBottom" fmla="*/ 8022240 h 8020800"/>
              </a:gdLst>
              <a:ahLst/>
              <a:cxnLst/>
              <a:rect l="textAreaLeft" t="textAreaTop" r="textAreaRight" b="textAreaBottom"/>
              <a:pathLst>
                <a:path w="812800" h="1527401">
                  <a:moveTo>
                    <a:pt x="41711" y="0"/>
                  </a:moveTo>
                  <a:lnTo>
                    <a:pt x="771089" y="0"/>
                  </a:lnTo>
                  <a:cubicBezTo>
                    <a:pt x="794125" y="0"/>
                    <a:pt x="812800" y="18675"/>
                    <a:pt x="812800" y="41711"/>
                  </a:cubicBezTo>
                  <a:lnTo>
                    <a:pt x="812800" y="1485690"/>
                  </a:lnTo>
                  <a:cubicBezTo>
                    <a:pt x="812800" y="1496752"/>
                    <a:pt x="808405" y="1507362"/>
                    <a:pt x="800583" y="1515184"/>
                  </a:cubicBezTo>
                  <a:cubicBezTo>
                    <a:pt x="792761" y="1523006"/>
                    <a:pt x="782151" y="1527401"/>
                    <a:pt x="771089" y="1527401"/>
                  </a:cubicBezTo>
                  <a:lnTo>
                    <a:pt x="41711" y="1527401"/>
                  </a:lnTo>
                  <a:cubicBezTo>
                    <a:pt x="18675" y="1527401"/>
                    <a:pt x="0" y="1508726"/>
                    <a:pt x="0" y="1485690"/>
                  </a:cubicBezTo>
                  <a:lnTo>
                    <a:pt x="0" y="41711"/>
                  </a:lnTo>
                  <a:cubicBezTo>
                    <a:pt x="0" y="18675"/>
                    <a:pt x="18675" y="0"/>
                    <a:pt x="41711" y="0"/>
                  </a:cubicBez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" name="TextBox 14"/>
          <p:cNvSpPr/>
          <p:nvPr/>
        </p:nvSpPr>
        <p:spPr>
          <a:xfrm>
            <a:off x="2570760" y="1004760"/>
            <a:ext cx="336816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561"/>
              </a:lnSpc>
            </a:pPr>
            <a:r>
              <a:rPr lang="en-US" sz="32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Telas Internas</a:t>
            </a:r>
            <a:endParaRPr lang="pt-BR" sz="3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5"/>
          <p:cNvSpPr/>
          <p:nvPr/>
        </p:nvSpPr>
        <p:spPr>
          <a:xfrm>
            <a:off x="1028880" y="2784960"/>
            <a:ext cx="287640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84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Submenu interno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6"/>
          <p:cNvSpPr/>
          <p:nvPr/>
        </p:nvSpPr>
        <p:spPr>
          <a:xfrm>
            <a:off x="6514560" y="965160"/>
            <a:ext cx="2537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84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Painel Lateral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7"/>
          <p:cNvSpPr/>
          <p:nvPr/>
        </p:nvSpPr>
        <p:spPr>
          <a:xfrm>
            <a:off x="11309400" y="885240"/>
            <a:ext cx="42674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84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Menu Hamburguer (Mobile)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203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sng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sng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5" name="Freeform 5"/>
          <p:cNvSpPr/>
          <p:nvPr/>
        </p:nvSpPr>
        <p:spPr>
          <a:xfrm>
            <a:off x="1028880" y="1028880"/>
            <a:ext cx="574920" cy="830520"/>
          </a:xfrm>
          <a:custGeom>
            <a:avLst/>
            <a:gdLst>
              <a:gd name="textAreaLeft" fmla="*/ 0 w 574920"/>
              <a:gd name="textAreaRight" fmla="*/ 576360 w 574920"/>
              <a:gd name="textAreaTop" fmla="*/ 0 h 830520"/>
              <a:gd name="textAreaBottom" fmla="*/ 831960 h 830520"/>
            </a:gdLst>
            <a:ahLst/>
            <a:cxnLst/>
            <a:rect l="textAreaLeft" t="textAreaTop" r="textAreaRight" b="textAreaBottom"/>
            <a:pathLst>
              <a:path w="576204" h="831790">
                <a:moveTo>
                  <a:pt x="0" y="0"/>
                </a:moveTo>
                <a:lnTo>
                  <a:pt x="576204" y="0"/>
                </a:lnTo>
                <a:lnTo>
                  <a:pt x="576204" y="831790"/>
                </a:lnTo>
                <a:lnTo>
                  <a:pt x="0" y="8317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Freeform 6"/>
          <p:cNvSpPr/>
          <p:nvPr/>
        </p:nvSpPr>
        <p:spPr>
          <a:xfrm rot="5400000">
            <a:off x="-607320" y="3804480"/>
            <a:ext cx="5917680" cy="3094200"/>
          </a:xfrm>
          <a:custGeom>
            <a:avLst/>
            <a:gdLst>
              <a:gd name="textAreaLeft" fmla="*/ 0 w 5917680"/>
              <a:gd name="textAreaRight" fmla="*/ 5919120 w 5917680"/>
              <a:gd name="textAreaTop" fmla="*/ 0 h 3094200"/>
              <a:gd name="textAreaBottom" fmla="*/ 3095640 h 3094200"/>
            </a:gdLst>
            <a:ahLst/>
            <a:cxnLst/>
            <a:rect l="textAreaLeft" t="textAreaTop" r="textAreaRight" b="textAreaBottom"/>
            <a:pathLst>
              <a:path w="5919084" h="3095681">
                <a:moveTo>
                  <a:pt x="0" y="0"/>
                </a:moveTo>
                <a:lnTo>
                  <a:pt x="5919085" y="0"/>
                </a:lnTo>
                <a:lnTo>
                  <a:pt x="5919085" y="3095681"/>
                </a:lnTo>
                <a:lnTo>
                  <a:pt x="0" y="30956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7" name="Group 7"/>
          <p:cNvGrpSpPr/>
          <p:nvPr/>
        </p:nvGrpSpPr>
        <p:grpSpPr>
          <a:xfrm>
            <a:off x="3998160" y="2441160"/>
            <a:ext cx="9537120" cy="5837040"/>
            <a:chOff x="3998160" y="2441160"/>
            <a:chExt cx="9537120" cy="5837040"/>
          </a:xfrm>
        </p:grpSpPr>
        <p:sp>
          <p:nvSpPr>
            <p:cNvPr id="208" name="Freeform 8"/>
            <p:cNvSpPr/>
            <p:nvPr/>
          </p:nvSpPr>
          <p:spPr>
            <a:xfrm>
              <a:off x="3998160" y="2441160"/>
              <a:ext cx="9537120" cy="5837040"/>
            </a:xfrm>
            <a:custGeom>
              <a:avLst/>
              <a:gdLst>
                <a:gd name="textAreaLeft" fmla="*/ 0 w 9537120"/>
                <a:gd name="textAreaRight" fmla="*/ 9538560 w 9537120"/>
                <a:gd name="textAreaTop" fmla="*/ 0 h 5837040"/>
                <a:gd name="textAreaBottom" fmla="*/ 5838480 h 5837040"/>
              </a:gdLst>
              <a:ahLst/>
              <a:cxnLst/>
              <a:rect l="textAreaLeft" t="textAreaTop" r="textAreaRight" b="textAreaBottom"/>
              <a:pathLst>
                <a:path w="1327889" h="812800">
                  <a:moveTo>
                    <a:pt x="18668" y="0"/>
                  </a:moveTo>
                  <a:lnTo>
                    <a:pt x="1309221" y="0"/>
                  </a:lnTo>
                  <a:cubicBezTo>
                    <a:pt x="1314172" y="0"/>
                    <a:pt x="1318920" y="1967"/>
                    <a:pt x="1322421" y="5468"/>
                  </a:cubicBezTo>
                  <a:cubicBezTo>
                    <a:pt x="1325922" y="8968"/>
                    <a:pt x="1327889" y="13717"/>
                    <a:pt x="1327889" y="18668"/>
                  </a:cubicBezTo>
                  <a:lnTo>
                    <a:pt x="1327889" y="794132"/>
                  </a:lnTo>
                  <a:cubicBezTo>
                    <a:pt x="1327889" y="804442"/>
                    <a:pt x="1319531" y="812800"/>
                    <a:pt x="1309221" y="812800"/>
                  </a:cubicBezTo>
                  <a:lnTo>
                    <a:pt x="18668" y="812800"/>
                  </a:lnTo>
                  <a:cubicBezTo>
                    <a:pt x="8358" y="812800"/>
                    <a:pt x="0" y="804442"/>
                    <a:pt x="0" y="794132"/>
                  </a:cubicBezTo>
                  <a:lnTo>
                    <a:pt x="0" y="18668"/>
                  </a:lnTo>
                  <a:cubicBezTo>
                    <a:pt x="0" y="8358"/>
                    <a:pt x="8358" y="0"/>
                    <a:pt x="18668" y="0"/>
                  </a:cubicBez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9" name="Freeform 9"/>
          <p:cNvSpPr/>
          <p:nvPr/>
        </p:nvSpPr>
        <p:spPr>
          <a:xfrm>
            <a:off x="13637880" y="2473560"/>
            <a:ext cx="3904920" cy="5772600"/>
          </a:xfrm>
          <a:custGeom>
            <a:avLst/>
            <a:gdLst>
              <a:gd name="textAreaLeft" fmla="*/ 0 w 3904920"/>
              <a:gd name="textAreaRight" fmla="*/ 3906360 w 3904920"/>
              <a:gd name="textAreaTop" fmla="*/ 0 h 5772600"/>
              <a:gd name="textAreaBottom" fmla="*/ 5774040 h 5772600"/>
            </a:gdLst>
            <a:ahLst/>
            <a:cxnLst/>
            <a:rect l="textAreaLeft" t="textAreaTop" r="textAreaRight" b="textAreaBottom"/>
            <a:pathLst>
              <a:path w="3906419" h="5774026">
                <a:moveTo>
                  <a:pt x="0" y="0"/>
                </a:moveTo>
                <a:lnTo>
                  <a:pt x="3906420" y="0"/>
                </a:lnTo>
                <a:lnTo>
                  <a:pt x="3906420" y="5774026"/>
                </a:lnTo>
                <a:lnTo>
                  <a:pt x="0" y="57740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Freeform 10"/>
          <p:cNvSpPr/>
          <p:nvPr/>
        </p:nvSpPr>
        <p:spPr>
          <a:xfrm>
            <a:off x="1165680" y="7085160"/>
            <a:ext cx="371520" cy="511560"/>
          </a:xfrm>
          <a:custGeom>
            <a:avLst/>
            <a:gdLst>
              <a:gd name="textAreaLeft" fmla="*/ 0 w 371520"/>
              <a:gd name="textAreaRight" fmla="*/ 372600 w 371520"/>
              <a:gd name="textAreaTop" fmla="*/ 0 h 511560"/>
              <a:gd name="textAreaBottom" fmla="*/ 512640 h 511560"/>
            </a:gdLst>
            <a:ahLst/>
            <a:cxnLst/>
            <a:rect l="textAreaLeft" t="textAreaTop" r="textAreaRight" b="textAreaBottom"/>
            <a:pathLst>
              <a:path w="457254" h="521763">
                <a:moveTo>
                  <a:pt x="0" y="0"/>
                </a:moveTo>
                <a:lnTo>
                  <a:pt x="457254" y="0"/>
                </a:lnTo>
                <a:lnTo>
                  <a:pt x="457254" y="521763"/>
                </a:lnTo>
                <a:lnTo>
                  <a:pt x="0" y="5217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Freeform 11"/>
          <p:cNvSpPr/>
          <p:nvPr/>
        </p:nvSpPr>
        <p:spPr>
          <a:xfrm>
            <a:off x="1604160" y="7050240"/>
            <a:ext cx="537480" cy="581040"/>
          </a:xfrm>
          <a:custGeom>
            <a:avLst/>
            <a:gdLst>
              <a:gd name="textAreaLeft" fmla="*/ 0 w 537480"/>
              <a:gd name="textAreaRight" fmla="*/ 538560 w 537480"/>
              <a:gd name="textAreaTop" fmla="*/ 0 h 581040"/>
              <a:gd name="textAreaBottom" fmla="*/ 582120 h 581040"/>
            </a:gdLst>
            <a:ahLst/>
            <a:cxnLst/>
            <a:rect l="textAreaLeft" t="textAreaTop" r="textAreaRight" b="textAreaBottom"/>
            <a:pathLst>
              <a:path w="591996" h="591996">
                <a:moveTo>
                  <a:pt x="0" y="0"/>
                </a:moveTo>
                <a:lnTo>
                  <a:pt x="591996" y="0"/>
                </a:lnTo>
                <a:lnTo>
                  <a:pt x="591996" y="591996"/>
                </a:lnTo>
                <a:lnTo>
                  <a:pt x="0" y="5919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Freeform 12"/>
          <p:cNvSpPr/>
          <p:nvPr/>
        </p:nvSpPr>
        <p:spPr>
          <a:xfrm>
            <a:off x="2151720" y="7008120"/>
            <a:ext cx="665640" cy="665640"/>
          </a:xfrm>
          <a:custGeom>
            <a:avLst/>
            <a:gdLst>
              <a:gd name="textAreaLeft" fmla="*/ 0 w 665640"/>
              <a:gd name="textAreaRight" fmla="*/ 667080 w 665640"/>
              <a:gd name="textAreaTop" fmla="*/ 0 h 665640"/>
              <a:gd name="textAreaBottom" fmla="*/ 667080 h 665640"/>
            </a:gdLst>
            <a:ahLst/>
            <a:cxnLst/>
            <a:rect l="textAreaLeft" t="textAreaTop" r="textAreaRight" b="textAreaBottom"/>
            <a:pathLst>
              <a:path w="667077" h="667077">
                <a:moveTo>
                  <a:pt x="0" y="0"/>
                </a:moveTo>
                <a:lnTo>
                  <a:pt x="667077" y="0"/>
                </a:lnTo>
                <a:lnTo>
                  <a:pt x="667077" y="667078"/>
                </a:lnTo>
                <a:lnTo>
                  <a:pt x="0" y="6670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Freeform 13"/>
          <p:cNvSpPr/>
          <p:nvPr/>
        </p:nvSpPr>
        <p:spPr>
          <a:xfrm>
            <a:off x="2938320" y="7115760"/>
            <a:ext cx="619920" cy="493560"/>
          </a:xfrm>
          <a:custGeom>
            <a:avLst/>
            <a:gdLst>
              <a:gd name="textAreaLeft" fmla="*/ 0 w 619920"/>
              <a:gd name="textAreaRight" fmla="*/ 621360 w 619920"/>
              <a:gd name="textAreaTop" fmla="*/ 0 h 493560"/>
              <a:gd name="textAreaBottom" fmla="*/ 495000 h 493560"/>
            </a:gdLst>
            <a:ahLst/>
            <a:cxnLst/>
            <a:rect l="textAreaLeft" t="textAreaTop" r="textAreaRight" b="textAreaBottom"/>
            <a:pathLst>
              <a:path w="621247" h="495057">
                <a:moveTo>
                  <a:pt x="0" y="0"/>
                </a:moveTo>
                <a:lnTo>
                  <a:pt x="621248" y="0"/>
                </a:lnTo>
                <a:lnTo>
                  <a:pt x="621248" y="495056"/>
                </a:lnTo>
                <a:lnTo>
                  <a:pt x="0" y="4950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4"/>
          <p:cNvSpPr/>
          <p:nvPr/>
        </p:nvSpPr>
        <p:spPr>
          <a:xfrm>
            <a:off x="1774080" y="852840"/>
            <a:ext cx="902520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Desenvolvimento do Sistema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1179000" y="2811240"/>
            <a:ext cx="2652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656"/>
              </a:lnSpc>
            </a:pP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Tecnologias Utilizadas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6"/>
          <p:cNvSpPr/>
          <p:nvPr/>
        </p:nvSpPr>
        <p:spPr>
          <a:xfrm>
            <a:off x="1040040" y="3315960"/>
            <a:ext cx="2652120" cy="35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61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HTML5 (estruturação semântica), CSS3 (estilização customizada), JavaScript (validações, localStorage e manipulação da DOM) e Bootstrap 5 (classes de Grid, cards e menus responsivos). 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7"/>
          <p:cNvSpPr/>
          <p:nvPr/>
        </p:nvSpPr>
        <p:spPr>
          <a:xfrm>
            <a:off x="3998160" y="2008440"/>
            <a:ext cx="327276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277"/>
              </a:lnSpc>
            </a:pPr>
            <a:r>
              <a:rPr lang="en-US" sz="234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Código comentado</a:t>
            </a:r>
            <a:endParaRPr lang="pt-BR" sz="2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8"/>
          <p:cNvSpPr/>
          <p:nvPr/>
        </p:nvSpPr>
        <p:spPr>
          <a:xfrm>
            <a:off x="13637880" y="2008440"/>
            <a:ext cx="362016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277"/>
              </a:lnSpc>
            </a:pPr>
            <a:r>
              <a:rPr lang="en-US" sz="234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Organização das Pastas</a:t>
            </a:r>
            <a:endParaRPr lang="pt-BR" sz="2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roup 2"/>
          <p:cNvGrpSpPr/>
          <p:nvPr/>
        </p:nvGrpSpPr>
        <p:grpSpPr>
          <a:xfrm>
            <a:off x="680400" y="635400"/>
            <a:ext cx="16925760" cy="9033840"/>
            <a:chOff x="680400" y="635400"/>
            <a:chExt cx="16925760" cy="9033840"/>
          </a:xfrm>
        </p:grpSpPr>
        <p:sp>
          <p:nvSpPr>
            <p:cNvPr id="220" name="Freeform 3"/>
            <p:cNvSpPr/>
            <p:nvPr/>
          </p:nvSpPr>
          <p:spPr>
            <a:xfrm>
              <a:off x="690120" y="64476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eform 4"/>
            <p:cNvSpPr/>
            <p:nvPr/>
          </p:nvSpPr>
          <p:spPr>
            <a:xfrm>
              <a:off x="680400" y="63540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2" name="Group 5"/>
          <p:cNvGrpSpPr/>
          <p:nvPr/>
        </p:nvGrpSpPr>
        <p:grpSpPr>
          <a:xfrm>
            <a:off x="9562320" y="2926080"/>
            <a:ext cx="5971680" cy="6460920"/>
            <a:chOff x="9562320" y="2926080"/>
            <a:chExt cx="5971680" cy="6460920"/>
          </a:xfrm>
        </p:grpSpPr>
        <p:pic>
          <p:nvPicPr>
            <p:cNvPr id="223" name="Picture 6"/>
            <p:cNvPicPr/>
            <p:nvPr/>
          </p:nvPicPr>
          <p:blipFill>
            <a:blip r:embed="rId1"/>
            <a:srcRect l="0" t="1149" r="0" b="1149"/>
            <a:stretch/>
          </p:blipFill>
          <p:spPr>
            <a:xfrm>
              <a:off x="9562320" y="2926080"/>
              <a:ext cx="5971680" cy="6460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4" name="Freeform 7"/>
          <p:cNvSpPr/>
          <p:nvPr/>
        </p:nvSpPr>
        <p:spPr>
          <a:xfrm>
            <a:off x="1028880" y="1028880"/>
            <a:ext cx="707760" cy="952200"/>
          </a:xfrm>
          <a:custGeom>
            <a:avLst/>
            <a:gdLst>
              <a:gd name="textAreaLeft" fmla="*/ 0 w 707760"/>
              <a:gd name="textAreaRight" fmla="*/ 709200 w 707760"/>
              <a:gd name="textAreaTop" fmla="*/ 0 h 952200"/>
              <a:gd name="textAreaBottom" fmla="*/ 953640 h 952200"/>
            </a:gdLst>
            <a:ahLst/>
            <a:cxnLst/>
            <a:rect l="textAreaLeft" t="textAreaTop" r="textAreaRight" b="textAreaBottom"/>
            <a:pathLst>
              <a:path w="709204" h="953697">
                <a:moveTo>
                  <a:pt x="0" y="0"/>
                </a:moveTo>
                <a:lnTo>
                  <a:pt x="709204" y="0"/>
                </a:lnTo>
                <a:lnTo>
                  <a:pt x="709204" y="953697"/>
                </a:lnTo>
                <a:lnTo>
                  <a:pt x="0" y="9536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Freeform 8"/>
          <p:cNvSpPr/>
          <p:nvPr/>
        </p:nvSpPr>
        <p:spPr>
          <a:xfrm>
            <a:off x="1543320" y="3099600"/>
            <a:ext cx="6994080" cy="6574320"/>
          </a:xfrm>
          <a:custGeom>
            <a:avLst/>
            <a:gdLst>
              <a:gd name="textAreaLeft" fmla="*/ 0 w 6994080"/>
              <a:gd name="textAreaRight" fmla="*/ 6995520 w 6994080"/>
              <a:gd name="textAreaTop" fmla="*/ 0 h 6574320"/>
              <a:gd name="textAreaBottom" fmla="*/ 6575760 h 6574320"/>
            </a:gdLst>
            <a:ahLst/>
            <a:cxnLst/>
            <a:rect l="textAreaLeft" t="textAreaTop" r="textAreaRight" b="textAreaBottom"/>
            <a:pathLst>
              <a:path w="6995614" h="6575877">
                <a:moveTo>
                  <a:pt x="0" y="0"/>
                </a:moveTo>
                <a:lnTo>
                  <a:pt x="6995615" y="0"/>
                </a:lnTo>
                <a:lnTo>
                  <a:pt x="6995615" y="6575878"/>
                </a:lnTo>
                <a:lnTo>
                  <a:pt x="0" y="65758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AutoShape 9"/>
          <p:cNvSpPr/>
          <p:nvPr/>
        </p:nvSpPr>
        <p:spPr>
          <a:xfrm>
            <a:off x="680400" y="210888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Freeform 10"/>
          <p:cNvSpPr/>
          <p:nvPr/>
        </p:nvSpPr>
        <p:spPr>
          <a:xfrm>
            <a:off x="1336680" y="2727000"/>
            <a:ext cx="221400" cy="221400"/>
          </a:xfrm>
          <a:custGeom>
            <a:avLst/>
            <a:gdLst>
              <a:gd name="textAreaLeft" fmla="*/ 0 w 221400"/>
              <a:gd name="textAreaRight" fmla="*/ 222840 w 221400"/>
              <a:gd name="textAreaTop" fmla="*/ 0 h 221400"/>
              <a:gd name="textAreaBottom" fmla="*/ 222840 h 221400"/>
            </a:gdLst>
            <a:ahLst/>
            <a:cxnLst/>
            <a:rect l="textAreaLeft" t="textAreaTop" r="textAreaRight" b="textAreaBottom"/>
            <a:pathLst>
              <a:path w="222904" h="222904">
                <a:moveTo>
                  <a:pt x="0" y="0"/>
                </a:moveTo>
                <a:lnTo>
                  <a:pt x="222904" y="0"/>
                </a:lnTo>
                <a:lnTo>
                  <a:pt x="222904" y="222904"/>
                </a:lnTo>
                <a:lnTo>
                  <a:pt x="0" y="2229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Freeform 11"/>
          <p:cNvSpPr/>
          <p:nvPr/>
        </p:nvSpPr>
        <p:spPr>
          <a:xfrm>
            <a:off x="1630440" y="2351160"/>
            <a:ext cx="404640" cy="597600"/>
          </a:xfrm>
          <a:custGeom>
            <a:avLst/>
            <a:gdLst>
              <a:gd name="textAreaLeft" fmla="*/ 0 w 404640"/>
              <a:gd name="textAreaRight" fmla="*/ 406080 w 40464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06149" h="598880">
                <a:moveTo>
                  <a:pt x="0" y="0"/>
                </a:moveTo>
                <a:lnTo>
                  <a:pt x="406149" y="0"/>
                </a:lnTo>
                <a:lnTo>
                  <a:pt x="406149" y="598879"/>
                </a:lnTo>
                <a:lnTo>
                  <a:pt x="0" y="5988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Freeform 12"/>
          <p:cNvSpPr/>
          <p:nvPr/>
        </p:nvSpPr>
        <p:spPr>
          <a:xfrm>
            <a:off x="815040" y="2312640"/>
            <a:ext cx="472320" cy="635760"/>
          </a:xfrm>
          <a:custGeom>
            <a:avLst/>
            <a:gdLst>
              <a:gd name="textAreaLeft" fmla="*/ 0 w 472320"/>
              <a:gd name="textAreaRight" fmla="*/ 473760 w 472320"/>
              <a:gd name="textAreaTop" fmla="*/ 0 h 635760"/>
              <a:gd name="textAreaBottom" fmla="*/ 637200 h 635760"/>
            </a:gdLst>
            <a:ahLst/>
            <a:cxnLst/>
            <a:rect l="textAreaLeft" t="textAreaTop" r="textAreaRight" b="textAreaBottom"/>
            <a:pathLst>
              <a:path w="473768" h="637096">
                <a:moveTo>
                  <a:pt x="0" y="0"/>
                </a:moveTo>
                <a:lnTo>
                  <a:pt x="473768" y="0"/>
                </a:lnTo>
                <a:lnTo>
                  <a:pt x="473768" y="637096"/>
                </a:lnTo>
                <a:lnTo>
                  <a:pt x="0" y="6370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3"/>
          <p:cNvSpPr/>
          <p:nvPr/>
        </p:nvSpPr>
        <p:spPr>
          <a:xfrm>
            <a:off x="1738080" y="1027440"/>
            <a:ext cx="1086120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Validações e Percistencia de Dados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1980000" y="3378960"/>
            <a:ext cx="6299640" cy="46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415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• Campos obrigatórios: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Nenhum campo listado na etapa de cadastro poderá ficar em branco. 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• Nome: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Mínimo de 15 e máximo de 60 caracteres alfabéticos. 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• Telefones (Fixo e Celular):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Devem seguir à risca a máscara (+55)XX-XXXXXXXX. • Login: Deve conter exatamente 6 caracteres alfabéticos. 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• 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Senha: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Deve conter exatamente 8 caracteres alfabéticos. 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• Confirmação de Senha: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Deve validar se os valores digitados em "Senha"e "Confirma Senha"são iguais. 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•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 Endereço: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Preenchido automaticamente por meio do ViaCEP após o usuário digitar o CEP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1783800" y="9180000"/>
            <a:ext cx="65109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755"/>
              </a:lnSpc>
            </a:pPr>
            <a:r>
              <a:rPr lang="en-US" sz="126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As regras são obrigatórias e serão validadas via JavaScript.</a:t>
            </a:r>
            <a:endParaRPr lang="pt-BR" sz="12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6"/>
          <p:cNvSpPr/>
          <p:nvPr/>
        </p:nvSpPr>
        <p:spPr>
          <a:xfrm>
            <a:off x="2107440" y="2273760"/>
            <a:ext cx="55209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740"/>
              </a:lnSpc>
            </a:pPr>
            <a:r>
              <a:rPr lang="en-US" sz="338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Validações de Cadastro</a:t>
            </a:r>
            <a:endParaRPr lang="pt-BR" sz="3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235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7" name="Group 5"/>
          <p:cNvGrpSpPr/>
          <p:nvPr/>
        </p:nvGrpSpPr>
        <p:grpSpPr>
          <a:xfrm>
            <a:off x="6779520" y="2470680"/>
            <a:ext cx="4727520" cy="5217120"/>
            <a:chOff x="6779520" y="2470680"/>
            <a:chExt cx="4727520" cy="5217120"/>
          </a:xfrm>
        </p:grpSpPr>
        <p:pic>
          <p:nvPicPr>
            <p:cNvPr id="238" name="Picture 6"/>
            <p:cNvPicPr/>
            <p:nvPr/>
          </p:nvPicPr>
          <p:blipFill>
            <a:blip r:embed="rId1"/>
            <a:srcRect l="62" t="0" r="62" b="0"/>
            <a:stretch/>
          </p:blipFill>
          <p:spPr>
            <a:xfrm>
              <a:off x="6779520" y="2470680"/>
              <a:ext cx="4727520" cy="5217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9" name="Freeform 7"/>
          <p:cNvSpPr/>
          <p:nvPr/>
        </p:nvSpPr>
        <p:spPr>
          <a:xfrm>
            <a:off x="1028880" y="1028880"/>
            <a:ext cx="472320" cy="635760"/>
          </a:xfrm>
          <a:custGeom>
            <a:avLst/>
            <a:gdLst>
              <a:gd name="textAreaLeft" fmla="*/ 0 w 472320"/>
              <a:gd name="textAreaRight" fmla="*/ 473760 w 472320"/>
              <a:gd name="textAreaTop" fmla="*/ 0 h 635760"/>
              <a:gd name="textAreaBottom" fmla="*/ 637200 h 635760"/>
            </a:gdLst>
            <a:ahLst/>
            <a:cxnLst/>
            <a:rect l="textAreaLeft" t="textAreaTop" r="textAreaRight" b="textAreaBottom"/>
            <a:pathLst>
              <a:path w="473768" h="637096">
                <a:moveTo>
                  <a:pt x="0" y="0"/>
                </a:moveTo>
                <a:lnTo>
                  <a:pt x="473768" y="0"/>
                </a:lnTo>
                <a:lnTo>
                  <a:pt x="473768" y="637096"/>
                </a:lnTo>
                <a:lnTo>
                  <a:pt x="0" y="6370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Freeform 8"/>
          <p:cNvSpPr/>
          <p:nvPr/>
        </p:nvSpPr>
        <p:spPr>
          <a:xfrm>
            <a:off x="1630080" y="1442880"/>
            <a:ext cx="221400" cy="221400"/>
          </a:xfrm>
          <a:custGeom>
            <a:avLst/>
            <a:gdLst>
              <a:gd name="textAreaLeft" fmla="*/ 0 w 221400"/>
              <a:gd name="textAreaRight" fmla="*/ 222840 w 221400"/>
              <a:gd name="textAreaTop" fmla="*/ 0 h 221400"/>
              <a:gd name="textAreaBottom" fmla="*/ 222840 h 221400"/>
            </a:gdLst>
            <a:ahLst/>
            <a:cxnLst/>
            <a:rect l="textAreaLeft" t="textAreaTop" r="textAreaRight" b="textAreaBottom"/>
            <a:pathLst>
              <a:path w="222904" h="222904">
                <a:moveTo>
                  <a:pt x="0" y="0"/>
                </a:moveTo>
                <a:lnTo>
                  <a:pt x="222904" y="0"/>
                </a:lnTo>
                <a:lnTo>
                  <a:pt x="222904" y="222904"/>
                </a:lnTo>
                <a:lnTo>
                  <a:pt x="0" y="22290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Freeform 9"/>
          <p:cNvSpPr/>
          <p:nvPr/>
        </p:nvSpPr>
        <p:spPr>
          <a:xfrm>
            <a:off x="2000520" y="1028880"/>
            <a:ext cx="444960" cy="597600"/>
          </a:xfrm>
          <a:custGeom>
            <a:avLst/>
            <a:gdLst>
              <a:gd name="textAreaLeft" fmla="*/ 0 w 444960"/>
              <a:gd name="textAreaRight" fmla="*/ 446400 w 444960"/>
              <a:gd name="textAreaTop" fmla="*/ 0 h 597600"/>
              <a:gd name="textAreaBottom" fmla="*/ 599040 h 597600"/>
            </a:gdLst>
            <a:ahLst/>
            <a:cxnLst/>
            <a:rect l="textAreaLeft" t="textAreaTop" r="textAreaRight" b="textAreaBottom"/>
            <a:pathLst>
              <a:path w="446437" h="598880">
                <a:moveTo>
                  <a:pt x="0" y="0"/>
                </a:moveTo>
                <a:lnTo>
                  <a:pt x="446438" y="0"/>
                </a:lnTo>
                <a:lnTo>
                  <a:pt x="446438" y="598880"/>
                </a:lnTo>
                <a:lnTo>
                  <a:pt x="0" y="5988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Freeform 10"/>
          <p:cNvSpPr/>
          <p:nvPr/>
        </p:nvSpPr>
        <p:spPr>
          <a:xfrm>
            <a:off x="775080" y="2470680"/>
            <a:ext cx="5862240" cy="5510520"/>
          </a:xfrm>
          <a:custGeom>
            <a:avLst/>
            <a:gdLst>
              <a:gd name="textAreaLeft" fmla="*/ 0 w 5862240"/>
              <a:gd name="textAreaRight" fmla="*/ 5863680 w 5862240"/>
              <a:gd name="textAreaTop" fmla="*/ 0 h 5510520"/>
              <a:gd name="textAreaBottom" fmla="*/ 5511960 h 5510520"/>
            </a:gdLst>
            <a:ahLst/>
            <a:cxnLst/>
            <a:rect l="textAreaLeft" t="textAreaTop" r="textAreaRight" b="textAreaBottom"/>
            <a:pathLst>
              <a:path w="5863668" h="5511848">
                <a:moveTo>
                  <a:pt x="0" y="0"/>
                </a:moveTo>
                <a:lnTo>
                  <a:pt x="5863669" y="0"/>
                </a:lnTo>
                <a:lnTo>
                  <a:pt x="5863669" y="5511849"/>
                </a:lnTo>
                <a:lnTo>
                  <a:pt x="0" y="55118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Freeform 11"/>
          <p:cNvSpPr/>
          <p:nvPr/>
        </p:nvSpPr>
        <p:spPr>
          <a:xfrm>
            <a:off x="11543760" y="2470680"/>
            <a:ext cx="5915520" cy="4844160"/>
          </a:xfrm>
          <a:custGeom>
            <a:avLst/>
            <a:gdLst>
              <a:gd name="textAreaLeft" fmla="*/ 0 w 5915520"/>
              <a:gd name="textAreaRight" fmla="*/ 5916960 w 5915520"/>
              <a:gd name="textAreaTop" fmla="*/ 0 h 4844160"/>
              <a:gd name="textAreaBottom" fmla="*/ 4845600 h 4844160"/>
            </a:gdLst>
            <a:ahLst/>
            <a:cxnLst/>
            <a:rect l="textAreaLeft" t="textAreaTop" r="textAreaRight" b="textAreaBottom"/>
            <a:pathLst>
              <a:path w="5917088" h="4845597">
                <a:moveTo>
                  <a:pt x="0" y="0"/>
                </a:moveTo>
                <a:lnTo>
                  <a:pt x="5917088" y="0"/>
                </a:lnTo>
                <a:lnTo>
                  <a:pt x="5917088" y="4845597"/>
                </a:lnTo>
                <a:lnTo>
                  <a:pt x="0" y="48455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2"/>
          <p:cNvSpPr/>
          <p:nvPr/>
        </p:nvSpPr>
        <p:spPr>
          <a:xfrm>
            <a:off x="2599560" y="989640"/>
            <a:ext cx="5812560" cy="6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740"/>
              </a:lnSpc>
            </a:pPr>
            <a:r>
              <a:rPr lang="en-US" sz="338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Armazenamento de Dados</a:t>
            </a:r>
            <a:endParaRPr lang="pt-BR" sz="33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3"/>
          <p:cNvSpPr/>
          <p:nvPr/>
        </p:nvSpPr>
        <p:spPr>
          <a:xfrm>
            <a:off x="1265760" y="2926440"/>
            <a:ext cx="4881240" cy="42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19"/>
              </a:lnSpc>
            </a:pP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• Método: </a:t>
            </a:r>
            <a:r>
              <a:rPr lang="en-US" sz="21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Será utilizada a Web Storage (localStorage) nativa do navegador.</a:t>
            </a:r>
            <a:endParaRPr lang="pt-BR" sz="2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019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019"/>
              </a:lnSpc>
            </a:pP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 • Dados armazenados:</a:t>
            </a:r>
            <a:r>
              <a:rPr lang="en-US" sz="21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O Login e a Senha para efetuar a validação de credenciais na Tela 2, além do registro do usuário logado na sessão ativa, permitindo exibir seu nome de usuário (login) no canto superior direito de todas as telas.</a:t>
            </a: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 </a:t>
            </a:r>
            <a:endParaRPr lang="pt-BR" sz="2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11690280" y="2036160"/>
            <a:ext cx="57726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998"/>
              </a:lnSpc>
            </a:pPr>
            <a:r>
              <a:rPr lang="en-US" sz="143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Código com a utilização do Médtodo de armazenamento de dados</a:t>
            </a:r>
            <a:endParaRPr lang="pt-B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248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0" name="Group 5"/>
          <p:cNvGrpSpPr/>
          <p:nvPr/>
        </p:nvGrpSpPr>
        <p:grpSpPr>
          <a:xfrm>
            <a:off x="1316880" y="2777040"/>
            <a:ext cx="7099920" cy="4496760"/>
            <a:chOff x="1316880" y="2777040"/>
            <a:chExt cx="7099920" cy="4496760"/>
          </a:xfrm>
        </p:grpSpPr>
        <p:pic>
          <p:nvPicPr>
            <p:cNvPr id="251" name="Picture 6"/>
            <p:cNvPicPr/>
            <p:nvPr/>
          </p:nvPicPr>
          <p:blipFill>
            <a:blip r:embed="rId1"/>
            <a:srcRect l="25146" t="0" r="8290" b="0"/>
            <a:stretch/>
          </p:blipFill>
          <p:spPr>
            <a:xfrm>
              <a:off x="1316880" y="2777040"/>
              <a:ext cx="7099920" cy="2199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2" name="Picture 7"/>
            <p:cNvPicPr/>
            <p:nvPr/>
          </p:nvPicPr>
          <p:blipFill>
            <a:blip r:embed="rId2"/>
            <a:srcRect l="11397" t="0" r="11397" b="0"/>
            <a:stretch/>
          </p:blipFill>
          <p:spPr>
            <a:xfrm>
              <a:off x="1316880" y="5073840"/>
              <a:ext cx="7099920" cy="2199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53" name="Freeform 8"/>
          <p:cNvSpPr/>
          <p:nvPr/>
        </p:nvSpPr>
        <p:spPr>
          <a:xfrm>
            <a:off x="1028880" y="1028880"/>
            <a:ext cx="574920" cy="830520"/>
          </a:xfrm>
          <a:custGeom>
            <a:avLst/>
            <a:gdLst>
              <a:gd name="textAreaLeft" fmla="*/ 0 w 574920"/>
              <a:gd name="textAreaRight" fmla="*/ 576360 w 574920"/>
              <a:gd name="textAreaTop" fmla="*/ 0 h 830520"/>
              <a:gd name="textAreaBottom" fmla="*/ 831960 h 830520"/>
            </a:gdLst>
            <a:ahLst/>
            <a:cxnLst/>
            <a:rect l="textAreaLeft" t="textAreaTop" r="textAreaRight" b="textAreaBottom"/>
            <a:pathLst>
              <a:path w="576204" h="831790">
                <a:moveTo>
                  <a:pt x="0" y="0"/>
                </a:moveTo>
                <a:lnTo>
                  <a:pt x="576204" y="0"/>
                </a:lnTo>
                <a:lnTo>
                  <a:pt x="576204" y="831790"/>
                </a:lnTo>
                <a:lnTo>
                  <a:pt x="0" y="8317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Freeform 9"/>
          <p:cNvSpPr/>
          <p:nvPr/>
        </p:nvSpPr>
        <p:spPr>
          <a:xfrm>
            <a:off x="9106920" y="2777040"/>
            <a:ext cx="8151120" cy="4262400"/>
          </a:xfrm>
          <a:custGeom>
            <a:avLst/>
            <a:gdLst>
              <a:gd name="textAreaLeft" fmla="*/ 0 w 8151120"/>
              <a:gd name="textAreaRight" fmla="*/ 8152560 w 8151120"/>
              <a:gd name="textAreaTop" fmla="*/ 0 h 4262400"/>
              <a:gd name="textAreaBottom" fmla="*/ 4263840 h 4262400"/>
            </a:gdLst>
            <a:ahLst/>
            <a:cxnLst/>
            <a:rect l="textAreaLeft" t="textAreaTop" r="textAreaRight" b="textAreaBottom"/>
            <a:pathLst>
              <a:path w="8152539" h="4263778">
                <a:moveTo>
                  <a:pt x="0" y="0"/>
                </a:moveTo>
                <a:lnTo>
                  <a:pt x="8152539" y="0"/>
                </a:lnTo>
                <a:lnTo>
                  <a:pt x="8152539" y="4263778"/>
                </a:lnTo>
                <a:lnTo>
                  <a:pt x="0" y="42637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0"/>
          <p:cNvSpPr/>
          <p:nvPr/>
        </p:nvSpPr>
        <p:spPr>
          <a:xfrm>
            <a:off x="1774080" y="852840"/>
            <a:ext cx="542520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Acessibilidade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1"/>
          <p:cNvSpPr/>
          <p:nvPr/>
        </p:nvSpPr>
        <p:spPr>
          <a:xfrm>
            <a:off x="9607680" y="3015720"/>
            <a:ext cx="6853680" cy="33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 defTabSz="914400">
              <a:lnSpc>
                <a:spcPts val="2954"/>
              </a:lnSpc>
            </a:pPr>
            <a:r>
              <a:rPr lang="en-US" sz="211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• </a:t>
            </a:r>
            <a:r>
              <a:rPr lang="en-US" sz="211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Alteração de Contraste:</a:t>
            </a:r>
            <a:r>
              <a:rPr lang="en-US" sz="211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Um botão que inverte o esquema de cores de toda a página (Fundo Escuro com Letras Claras ↔ Fundo Claro com Letras Escuras), beneficiando usuários com fadiga visual.</a:t>
            </a:r>
            <a:endParaRPr lang="pt-BR" sz="2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954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954"/>
              </a:lnSpc>
            </a:pPr>
            <a:r>
              <a:rPr lang="en-US" sz="211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</a:t>
            </a:r>
            <a:r>
              <a:rPr lang="en-US" sz="2110" b="1" u="none" strike="noStrike">
                <a:solidFill>
                  <a:srgbClr val="000000"/>
                </a:solidFill>
                <a:effectLst/>
                <a:uFillTx/>
                <a:latin typeface="Agrandir Bold"/>
                <a:ea typeface="Agrandir Bold"/>
              </a:rPr>
              <a:t>• Tamanho da Fonte:</a:t>
            </a:r>
            <a:r>
              <a:rPr lang="en-US" sz="211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 Botões controladores (A+ e A−) que interagem com o CSS e o JavaScript para aumentar ou reduzir os tamanhos das fontes da página proporcionalmente. </a:t>
            </a:r>
            <a:endParaRPr lang="pt-BR" sz="21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AutoShape 12"/>
          <p:cNvSpPr/>
          <p:nvPr/>
        </p:nvSpPr>
        <p:spPr>
          <a:xfrm>
            <a:off x="680400" y="210888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roup 2"/>
          <p:cNvGrpSpPr/>
          <p:nvPr/>
        </p:nvGrpSpPr>
        <p:grpSpPr>
          <a:xfrm>
            <a:off x="680400" y="626040"/>
            <a:ext cx="16925760" cy="9033840"/>
            <a:chOff x="680400" y="626040"/>
            <a:chExt cx="16925760" cy="9033840"/>
          </a:xfrm>
        </p:grpSpPr>
        <p:sp>
          <p:nvSpPr>
            <p:cNvPr id="259" name="Freeform 3"/>
            <p:cNvSpPr/>
            <p:nvPr/>
          </p:nvSpPr>
          <p:spPr>
            <a:xfrm>
              <a:off x="6901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eform 4"/>
            <p:cNvSpPr/>
            <p:nvPr/>
          </p:nvSpPr>
          <p:spPr>
            <a:xfrm>
              <a:off x="6804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1" name="Freeform 5"/>
          <p:cNvSpPr/>
          <p:nvPr/>
        </p:nvSpPr>
        <p:spPr>
          <a:xfrm>
            <a:off x="1028880" y="1028880"/>
            <a:ext cx="637200" cy="874440"/>
          </a:xfrm>
          <a:custGeom>
            <a:avLst/>
            <a:gdLst>
              <a:gd name="textAreaLeft" fmla="*/ 0 w 637200"/>
              <a:gd name="textAreaRight" fmla="*/ 638640 w 637200"/>
              <a:gd name="textAreaTop" fmla="*/ 0 h 874440"/>
              <a:gd name="textAreaBottom" fmla="*/ 875880 h 874440"/>
            </a:gdLst>
            <a:ahLst/>
            <a:cxnLst/>
            <a:rect l="textAreaLeft" t="textAreaTop" r="textAreaRight" b="textAreaBottom"/>
            <a:pathLst>
              <a:path w="638493" h="875739">
                <a:moveTo>
                  <a:pt x="0" y="0"/>
                </a:moveTo>
                <a:lnTo>
                  <a:pt x="638493" y="0"/>
                </a:lnTo>
                <a:lnTo>
                  <a:pt x="638493" y="875739"/>
                </a:lnTo>
                <a:lnTo>
                  <a:pt x="0" y="87573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AutoShape 6"/>
          <p:cNvSpPr/>
          <p:nvPr/>
        </p:nvSpPr>
        <p:spPr>
          <a:xfrm>
            <a:off x="680400" y="2108880"/>
            <a:ext cx="16926840" cy="237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7"/>
          <p:cNvSpPr/>
          <p:nvPr/>
        </p:nvSpPr>
        <p:spPr>
          <a:xfrm>
            <a:off x="1817280" y="874800"/>
            <a:ext cx="808200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6693"/>
              </a:lnSpc>
            </a:pPr>
            <a:r>
              <a:rPr lang="en-US" sz="4780" b="1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Desafios e Aprendizados</a:t>
            </a:r>
            <a:endParaRPr lang="pt-BR" sz="4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8"/>
          <p:cNvSpPr/>
          <p:nvPr/>
        </p:nvSpPr>
        <p:spPr>
          <a:xfrm>
            <a:off x="1028880" y="2089800"/>
            <a:ext cx="43700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683"/>
              </a:lnSpc>
            </a:pPr>
            <a:r>
              <a:rPr lang="en-US" sz="334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Principais desafios:</a:t>
            </a:r>
            <a:endParaRPr lang="pt-BR" sz="3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Freeform 9"/>
          <p:cNvSpPr/>
          <p:nvPr/>
        </p:nvSpPr>
        <p:spPr>
          <a:xfrm>
            <a:off x="869400" y="4848480"/>
            <a:ext cx="4602240" cy="2066040"/>
          </a:xfrm>
          <a:custGeom>
            <a:avLst/>
            <a:gdLst>
              <a:gd name="textAreaLeft" fmla="*/ 0 w 4602240"/>
              <a:gd name="textAreaRight" fmla="*/ 4603680 w 4602240"/>
              <a:gd name="textAreaTop" fmla="*/ 0 h 2066040"/>
              <a:gd name="textAreaBottom" fmla="*/ 2067480 h 2066040"/>
            </a:gdLst>
            <a:ahLst/>
            <a:cxnLst/>
            <a:rect l="textAreaLeft" t="textAreaTop" r="textAreaRight" b="textAreaBottom"/>
            <a:pathLst>
              <a:path w="4603784" h="2067517">
                <a:moveTo>
                  <a:pt x="0" y="0"/>
                </a:moveTo>
                <a:lnTo>
                  <a:pt x="4603783" y="0"/>
                </a:lnTo>
                <a:lnTo>
                  <a:pt x="4603783" y="2067518"/>
                </a:lnTo>
                <a:lnTo>
                  <a:pt x="0" y="20675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0"/>
          <p:cNvSpPr/>
          <p:nvPr/>
        </p:nvSpPr>
        <p:spPr>
          <a:xfrm>
            <a:off x="1667160" y="5001120"/>
            <a:ext cx="3660480" cy="16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144"/>
              </a:lnSpc>
            </a:pPr>
            <a:r>
              <a:rPr lang="en-US" sz="225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Inclusão do recurso “Carrinho” onde foi colocado também com a utilização de JSON</a:t>
            </a:r>
            <a:endParaRPr lang="pt-B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Freeform 11"/>
          <p:cNvSpPr/>
          <p:nvPr/>
        </p:nvSpPr>
        <p:spPr>
          <a:xfrm>
            <a:off x="869400" y="2845800"/>
            <a:ext cx="4458240" cy="2001240"/>
          </a:xfrm>
          <a:custGeom>
            <a:avLst/>
            <a:gdLst>
              <a:gd name="textAreaLeft" fmla="*/ 0 w 4458240"/>
              <a:gd name="textAreaRight" fmla="*/ 4459680 w 4458240"/>
              <a:gd name="textAreaTop" fmla="*/ 0 h 2001240"/>
              <a:gd name="textAreaBottom" fmla="*/ 2002680 h 2001240"/>
            </a:gdLst>
            <a:ahLst/>
            <a:cxnLst/>
            <a:rect l="textAreaLeft" t="textAreaTop" r="textAreaRight" b="textAreaBottom"/>
            <a:pathLst>
              <a:path w="4459599" h="2002765">
                <a:moveTo>
                  <a:pt x="0" y="0"/>
                </a:moveTo>
                <a:lnTo>
                  <a:pt x="4459598" y="0"/>
                </a:lnTo>
                <a:lnTo>
                  <a:pt x="4459598" y="2002765"/>
                </a:lnTo>
                <a:lnTo>
                  <a:pt x="0" y="20027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Freeform 12"/>
          <p:cNvSpPr/>
          <p:nvPr/>
        </p:nvSpPr>
        <p:spPr>
          <a:xfrm>
            <a:off x="282240" y="4767840"/>
            <a:ext cx="1491120" cy="993600"/>
          </a:xfrm>
          <a:custGeom>
            <a:avLst/>
            <a:gdLst>
              <a:gd name="textAreaLeft" fmla="*/ 0 w 1491120"/>
              <a:gd name="textAreaRight" fmla="*/ 1492560 w 1491120"/>
              <a:gd name="textAreaTop" fmla="*/ 0 h 993600"/>
              <a:gd name="textAreaBottom" fmla="*/ 995040 h 993600"/>
            </a:gdLst>
            <a:ahLst/>
            <a:cxnLst/>
            <a:rect l="textAreaLeft" t="textAreaTop" r="textAreaRight" b="textAreaBottom"/>
            <a:pathLst>
              <a:path w="1492639" h="995092">
                <a:moveTo>
                  <a:pt x="0" y="0"/>
                </a:moveTo>
                <a:lnTo>
                  <a:pt x="1492638" y="0"/>
                </a:lnTo>
                <a:lnTo>
                  <a:pt x="1492638" y="995092"/>
                </a:lnTo>
                <a:lnTo>
                  <a:pt x="0" y="99509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3"/>
          <p:cNvSpPr/>
          <p:nvPr/>
        </p:nvSpPr>
        <p:spPr>
          <a:xfrm>
            <a:off x="1817280" y="2912400"/>
            <a:ext cx="2587680" cy="15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044"/>
              </a:lnSpc>
            </a:pPr>
            <a:r>
              <a:rPr lang="en-US" sz="217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Compreensão do uso de API’s (viaCEP) com a utilização de JSON. </a:t>
            </a:r>
            <a:endParaRPr lang="pt-B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Freeform 14"/>
          <p:cNvSpPr/>
          <p:nvPr/>
        </p:nvSpPr>
        <p:spPr>
          <a:xfrm>
            <a:off x="324720" y="2750400"/>
            <a:ext cx="1491120" cy="993600"/>
          </a:xfrm>
          <a:custGeom>
            <a:avLst/>
            <a:gdLst>
              <a:gd name="textAreaLeft" fmla="*/ 0 w 1491120"/>
              <a:gd name="textAreaRight" fmla="*/ 1492560 w 1491120"/>
              <a:gd name="textAreaTop" fmla="*/ 0 h 993600"/>
              <a:gd name="textAreaBottom" fmla="*/ 995040 h 993600"/>
            </a:gdLst>
            <a:ahLst/>
            <a:cxnLst/>
            <a:rect l="textAreaLeft" t="textAreaTop" r="textAreaRight" b="textAreaBottom"/>
            <a:pathLst>
              <a:path w="1492639" h="995092">
                <a:moveTo>
                  <a:pt x="0" y="0"/>
                </a:moveTo>
                <a:lnTo>
                  <a:pt x="1492638" y="0"/>
                </a:lnTo>
                <a:lnTo>
                  <a:pt x="1492638" y="995093"/>
                </a:lnTo>
                <a:lnTo>
                  <a:pt x="0" y="99509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15"/>
          <p:cNvSpPr/>
          <p:nvPr/>
        </p:nvSpPr>
        <p:spPr>
          <a:xfrm>
            <a:off x="5820840" y="2089800"/>
            <a:ext cx="4908240" cy="12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697"/>
              </a:lnSpc>
            </a:pPr>
            <a:r>
              <a:rPr lang="en-US" sz="3359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Como os problemas foram resolvidos:</a:t>
            </a:r>
            <a:endParaRPr lang="pt-BR" sz="335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Freeform 16"/>
          <p:cNvSpPr/>
          <p:nvPr/>
        </p:nvSpPr>
        <p:spPr>
          <a:xfrm>
            <a:off x="5707080" y="3350160"/>
            <a:ext cx="5022360" cy="2254680"/>
          </a:xfrm>
          <a:custGeom>
            <a:avLst/>
            <a:gdLst>
              <a:gd name="textAreaLeft" fmla="*/ 0 w 5022360"/>
              <a:gd name="textAreaRight" fmla="*/ 5023800 w 5022360"/>
              <a:gd name="textAreaTop" fmla="*/ 0 h 2254680"/>
              <a:gd name="textAreaBottom" fmla="*/ 2256120 h 2254680"/>
            </a:gdLst>
            <a:ahLst/>
            <a:cxnLst/>
            <a:rect l="textAreaLeft" t="textAreaTop" r="textAreaRight" b="textAreaBottom"/>
            <a:pathLst>
              <a:path w="5023694" h="2256095">
                <a:moveTo>
                  <a:pt x="0" y="0"/>
                </a:moveTo>
                <a:lnTo>
                  <a:pt x="5023694" y="0"/>
                </a:lnTo>
                <a:lnTo>
                  <a:pt x="5023694" y="2256095"/>
                </a:lnTo>
                <a:lnTo>
                  <a:pt x="0" y="22560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Freeform 17"/>
          <p:cNvSpPr/>
          <p:nvPr/>
        </p:nvSpPr>
        <p:spPr>
          <a:xfrm>
            <a:off x="5072400" y="3278520"/>
            <a:ext cx="1173600" cy="781920"/>
          </a:xfrm>
          <a:custGeom>
            <a:avLst/>
            <a:gdLst>
              <a:gd name="textAreaLeft" fmla="*/ 0 w 1173600"/>
              <a:gd name="textAreaRight" fmla="*/ 1175040 w 1173600"/>
              <a:gd name="textAreaTop" fmla="*/ 0 h 781920"/>
              <a:gd name="textAreaBottom" fmla="*/ 783360 h 781920"/>
            </a:gdLst>
            <a:ahLst/>
            <a:cxnLst/>
            <a:rect l="textAreaLeft" t="textAreaTop" r="textAreaRight" b="textAreaBottom"/>
            <a:pathLst>
              <a:path w="1174983" h="783322">
                <a:moveTo>
                  <a:pt x="0" y="0"/>
                </a:moveTo>
                <a:lnTo>
                  <a:pt x="1174982" y="0"/>
                </a:lnTo>
                <a:lnTo>
                  <a:pt x="1174982" y="783321"/>
                </a:lnTo>
                <a:lnTo>
                  <a:pt x="0" y="7833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8"/>
          <p:cNvSpPr/>
          <p:nvPr/>
        </p:nvSpPr>
        <p:spPr>
          <a:xfrm>
            <a:off x="6366960" y="3452760"/>
            <a:ext cx="4206240" cy="18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786"/>
              </a:lnSpc>
            </a:pPr>
            <a:r>
              <a:rPr lang="en-US" sz="199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Aulas teóricas e praticas obtendo o entendimento do conceito de cada dificuldade  e também com o auxilio do sistema de codificação Bootstrap 5.</a:t>
            </a:r>
            <a:endParaRPr lang="pt-BR" sz="19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9"/>
          <p:cNvSpPr/>
          <p:nvPr/>
        </p:nvSpPr>
        <p:spPr>
          <a:xfrm>
            <a:off x="11077920" y="2089800"/>
            <a:ext cx="4908240" cy="12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697"/>
              </a:lnSpc>
            </a:pPr>
            <a:r>
              <a:rPr lang="en-US" sz="3359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Conhecimentos Adquiridos:</a:t>
            </a:r>
            <a:endParaRPr lang="pt-BR" sz="335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Freeform 20"/>
          <p:cNvSpPr/>
          <p:nvPr/>
        </p:nvSpPr>
        <p:spPr>
          <a:xfrm>
            <a:off x="10968840" y="3248280"/>
            <a:ext cx="5598360" cy="2513520"/>
          </a:xfrm>
          <a:custGeom>
            <a:avLst/>
            <a:gdLst>
              <a:gd name="textAreaLeft" fmla="*/ 0 w 5598360"/>
              <a:gd name="textAreaRight" fmla="*/ 5599800 w 5598360"/>
              <a:gd name="textAreaTop" fmla="*/ 0 h 2513520"/>
              <a:gd name="textAreaBottom" fmla="*/ 2514960 h 2513520"/>
            </a:gdLst>
            <a:ahLst/>
            <a:cxnLst/>
            <a:rect l="textAreaLeft" t="textAreaTop" r="textAreaRight" b="textAreaBottom"/>
            <a:pathLst>
              <a:path w="5599817" h="2514827">
                <a:moveTo>
                  <a:pt x="0" y="0"/>
                </a:moveTo>
                <a:lnTo>
                  <a:pt x="5599816" y="0"/>
                </a:lnTo>
                <a:lnTo>
                  <a:pt x="5599816" y="2514827"/>
                </a:lnTo>
                <a:lnTo>
                  <a:pt x="0" y="25148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Freeform 21"/>
          <p:cNvSpPr/>
          <p:nvPr/>
        </p:nvSpPr>
        <p:spPr>
          <a:xfrm>
            <a:off x="10574640" y="3248280"/>
            <a:ext cx="1308600" cy="871920"/>
          </a:xfrm>
          <a:custGeom>
            <a:avLst/>
            <a:gdLst>
              <a:gd name="textAreaLeft" fmla="*/ 0 w 1308600"/>
              <a:gd name="textAreaRight" fmla="*/ 1310040 w 1308600"/>
              <a:gd name="textAreaTop" fmla="*/ 0 h 871920"/>
              <a:gd name="textAreaBottom" fmla="*/ 873360 h 871920"/>
            </a:gdLst>
            <a:ahLst/>
            <a:cxnLst/>
            <a:rect l="textAreaLeft" t="textAreaTop" r="textAreaRight" b="textAreaBottom"/>
            <a:pathLst>
              <a:path w="1310081" h="873387">
                <a:moveTo>
                  <a:pt x="0" y="0"/>
                </a:moveTo>
                <a:lnTo>
                  <a:pt x="1310080" y="0"/>
                </a:lnTo>
                <a:lnTo>
                  <a:pt x="1310080" y="873387"/>
                </a:lnTo>
                <a:lnTo>
                  <a:pt x="0" y="8733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2"/>
          <p:cNvSpPr/>
          <p:nvPr/>
        </p:nvSpPr>
        <p:spPr>
          <a:xfrm>
            <a:off x="11769120" y="3347640"/>
            <a:ext cx="4798440" cy="22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551"/>
              </a:lnSpc>
            </a:pPr>
            <a:r>
              <a:rPr lang="en-US" sz="182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Após estudos profundo sobre os desafios citados, conseguimos compreender e aplicar o uso de APIs externas (ViaCEP), aplicação do LocalStorange na substituição de banco de dados reais via Back-end, aplicação do contraste (dark mode) e alteração do tamanho da fonte.</a:t>
            </a:r>
            <a:endParaRPr lang="pt-BR" sz="1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3"/>
          <p:cNvSpPr/>
          <p:nvPr/>
        </p:nvSpPr>
        <p:spPr>
          <a:xfrm>
            <a:off x="6300000" y="6255720"/>
            <a:ext cx="449352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683"/>
              </a:lnSpc>
            </a:pPr>
            <a:r>
              <a:rPr lang="en-US" sz="334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Melhorias Futuras</a:t>
            </a:r>
            <a:endParaRPr lang="pt-BR" sz="3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Freeform 24"/>
          <p:cNvSpPr/>
          <p:nvPr/>
        </p:nvSpPr>
        <p:spPr>
          <a:xfrm>
            <a:off x="5945400" y="6915960"/>
            <a:ext cx="5283000" cy="2371680"/>
          </a:xfrm>
          <a:custGeom>
            <a:avLst/>
            <a:gdLst>
              <a:gd name="textAreaLeft" fmla="*/ 0 w 5283000"/>
              <a:gd name="textAreaRight" fmla="*/ 5284440 w 5283000"/>
              <a:gd name="textAreaTop" fmla="*/ 0 h 2371680"/>
              <a:gd name="textAreaBottom" fmla="*/ 2373120 h 2371680"/>
            </a:gdLst>
            <a:ahLst/>
            <a:cxnLst/>
            <a:rect l="textAreaLeft" t="textAreaTop" r="textAreaRight" b="textAreaBottom"/>
            <a:pathLst>
              <a:path w="5284578" h="2373256">
                <a:moveTo>
                  <a:pt x="0" y="0"/>
                </a:moveTo>
                <a:lnTo>
                  <a:pt x="5284578" y="0"/>
                </a:lnTo>
                <a:lnTo>
                  <a:pt x="5284578" y="2373256"/>
                </a:lnTo>
                <a:lnTo>
                  <a:pt x="0" y="23732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5"/>
          <p:cNvSpPr/>
          <p:nvPr/>
        </p:nvSpPr>
        <p:spPr>
          <a:xfrm>
            <a:off x="6398640" y="7095240"/>
            <a:ext cx="4677480" cy="18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435"/>
              </a:lnSpc>
            </a:pPr>
            <a:r>
              <a:rPr lang="en-US" sz="174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Utilização de banco de dados reais com o Back-end, assim, utilizando o MySQL; Adicionar menu lateral para filtrar opções de tamanho, gênero, entre outros; Adicionar exclusão de conta; Adicionar API’s de Pagamento, entre outros</a:t>
            </a:r>
            <a:endParaRPr lang="pt-BR" sz="1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Freeform 1"/>
          <p:cNvSpPr/>
          <p:nvPr/>
        </p:nvSpPr>
        <p:spPr>
          <a:xfrm>
            <a:off x="5072760" y="3278880"/>
            <a:ext cx="1173600" cy="781920"/>
          </a:xfrm>
          <a:custGeom>
            <a:avLst/>
            <a:gdLst>
              <a:gd name="textAreaLeft" fmla="*/ 0 w 1173600"/>
              <a:gd name="textAreaRight" fmla="*/ 1175040 w 1173600"/>
              <a:gd name="textAreaTop" fmla="*/ 0 h 781920"/>
              <a:gd name="textAreaBottom" fmla="*/ 783360 h 781920"/>
            </a:gdLst>
            <a:ahLst/>
            <a:cxnLst/>
            <a:rect l="textAreaLeft" t="textAreaTop" r="textAreaRight" b="textAreaBottom"/>
            <a:pathLst>
              <a:path w="1174983" h="783322">
                <a:moveTo>
                  <a:pt x="0" y="0"/>
                </a:moveTo>
                <a:lnTo>
                  <a:pt x="1174982" y="0"/>
                </a:lnTo>
                <a:lnTo>
                  <a:pt x="1174982" y="783321"/>
                </a:lnTo>
                <a:lnTo>
                  <a:pt x="0" y="7833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Freeform 2"/>
          <p:cNvSpPr/>
          <p:nvPr/>
        </p:nvSpPr>
        <p:spPr>
          <a:xfrm>
            <a:off x="5305320" y="6957000"/>
            <a:ext cx="1173600" cy="781920"/>
          </a:xfrm>
          <a:custGeom>
            <a:avLst/>
            <a:gdLst>
              <a:gd name="textAreaLeft" fmla="*/ 0 w 1173600"/>
              <a:gd name="textAreaRight" fmla="*/ 1175040 w 1173600"/>
              <a:gd name="textAreaTop" fmla="*/ 0 h 781920"/>
              <a:gd name="textAreaBottom" fmla="*/ 783360 h 781920"/>
            </a:gdLst>
            <a:ahLst/>
            <a:cxnLst/>
            <a:rect l="textAreaLeft" t="textAreaTop" r="textAreaRight" b="textAreaBottom"/>
            <a:pathLst>
              <a:path w="1174983" h="783322">
                <a:moveTo>
                  <a:pt x="0" y="0"/>
                </a:moveTo>
                <a:lnTo>
                  <a:pt x="1174982" y="0"/>
                </a:lnTo>
                <a:lnTo>
                  <a:pt x="1174982" y="783321"/>
                </a:lnTo>
                <a:lnTo>
                  <a:pt x="0" y="78332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07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2"/>
          <p:cNvGrpSpPr/>
          <p:nvPr/>
        </p:nvGrpSpPr>
        <p:grpSpPr>
          <a:xfrm>
            <a:off x="720000" y="626040"/>
            <a:ext cx="16925760" cy="9033840"/>
            <a:chOff x="720000" y="626040"/>
            <a:chExt cx="16925760" cy="9033840"/>
          </a:xfrm>
        </p:grpSpPr>
        <p:sp>
          <p:nvSpPr>
            <p:cNvPr id="285" name="Freeform 3"/>
            <p:cNvSpPr/>
            <p:nvPr/>
          </p:nvSpPr>
          <p:spPr>
            <a:xfrm>
              <a:off x="729720" y="635400"/>
              <a:ext cx="16906320" cy="9014400"/>
            </a:xfrm>
            <a:custGeom>
              <a:avLst/>
              <a:gdLst>
                <a:gd name="textAreaLeft" fmla="*/ 0 w 16906320"/>
                <a:gd name="textAreaRight" fmla="*/ 16907760 w 16906320"/>
                <a:gd name="textAreaTop" fmla="*/ 0 h 9014400"/>
                <a:gd name="textAreaBottom" fmla="*/ 9015840 h 9014400"/>
              </a:gdLst>
              <a:ahLst/>
              <a:cxnLst/>
              <a:rect l="textAreaLeft" t="textAreaTop" r="textAreaRight" b="textAreaBottom"/>
              <a:pathLst>
                <a:path w="126257871" h="67325995">
                  <a:moveTo>
                    <a:pt x="0" y="0"/>
                  </a:moveTo>
                  <a:lnTo>
                    <a:pt x="126257871" y="0"/>
                  </a:lnTo>
                  <a:lnTo>
                    <a:pt x="126257871" y="67325995"/>
                  </a:lnTo>
                  <a:lnTo>
                    <a:pt x="0" y="67325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5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sng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Freeform 4"/>
            <p:cNvSpPr/>
            <p:nvPr/>
          </p:nvSpPr>
          <p:spPr>
            <a:xfrm>
              <a:off x="720000" y="626040"/>
              <a:ext cx="16925760" cy="9033840"/>
            </a:xfrm>
            <a:custGeom>
              <a:avLst/>
              <a:gdLst>
                <a:gd name="textAreaLeft" fmla="*/ 0 w 16925760"/>
                <a:gd name="textAreaRight" fmla="*/ 16927200 w 16925760"/>
                <a:gd name="textAreaTop" fmla="*/ 0 h 9033840"/>
                <a:gd name="textAreaBottom" fmla="*/ 9035280 h 9033840"/>
              </a:gdLst>
              <a:ahLst/>
              <a:cxnLst/>
              <a:rect l="textAreaLeft" t="textAreaTop" r="textAreaRight" b="textAreaBottom"/>
              <a:pathLst>
                <a:path w="126402654" h="67470778">
                  <a:moveTo>
                    <a:pt x="126257869" y="67325999"/>
                  </a:moveTo>
                  <a:lnTo>
                    <a:pt x="126402654" y="67325999"/>
                  </a:lnTo>
                  <a:lnTo>
                    <a:pt x="126402654" y="67470778"/>
                  </a:lnTo>
                  <a:lnTo>
                    <a:pt x="126257869" y="67470778"/>
                  </a:lnTo>
                  <a:lnTo>
                    <a:pt x="126257869" y="6732599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7325999"/>
                  </a:lnTo>
                  <a:lnTo>
                    <a:pt x="0" y="67325999"/>
                  </a:lnTo>
                  <a:lnTo>
                    <a:pt x="0" y="144780"/>
                  </a:lnTo>
                  <a:close/>
                  <a:moveTo>
                    <a:pt x="0" y="67325999"/>
                  </a:moveTo>
                  <a:lnTo>
                    <a:pt x="144780" y="67325999"/>
                  </a:lnTo>
                  <a:lnTo>
                    <a:pt x="144780" y="67470778"/>
                  </a:lnTo>
                  <a:lnTo>
                    <a:pt x="0" y="67470778"/>
                  </a:lnTo>
                  <a:lnTo>
                    <a:pt x="0" y="67325999"/>
                  </a:lnTo>
                  <a:close/>
                  <a:moveTo>
                    <a:pt x="126257869" y="144780"/>
                  </a:moveTo>
                  <a:lnTo>
                    <a:pt x="126402654" y="144780"/>
                  </a:lnTo>
                  <a:lnTo>
                    <a:pt x="126402654" y="67325999"/>
                  </a:lnTo>
                  <a:lnTo>
                    <a:pt x="126257869" y="67325999"/>
                  </a:lnTo>
                  <a:lnTo>
                    <a:pt x="126257869" y="144780"/>
                  </a:lnTo>
                  <a:close/>
                  <a:moveTo>
                    <a:pt x="144780" y="67325999"/>
                  </a:moveTo>
                  <a:lnTo>
                    <a:pt x="126257869" y="67325999"/>
                  </a:lnTo>
                  <a:lnTo>
                    <a:pt x="126257869" y="67470778"/>
                  </a:lnTo>
                  <a:lnTo>
                    <a:pt x="144780" y="67470778"/>
                  </a:lnTo>
                  <a:lnTo>
                    <a:pt x="144780" y="67325999"/>
                  </a:lnTo>
                  <a:close/>
                  <a:moveTo>
                    <a:pt x="126257869" y="0"/>
                  </a:moveTo>
                  <a:lnTo>
                    <a:pt x="126402654" y="0"/>
                  </a:lnTo>
                  <a:lnTo>
                    <a:pt x="126402654" y="144780"/>
                  </a:lnTo>
                  <a:lnTo>
                    <a:pt x="126257869" y="144780"/>
                  </a:lnTo>
                  <a:lnTo>
                    <a:pt x="1262578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26257869" y="0"/>
                  </a:lnTo>
                  <a:lnTo>
                    <a:pt x="1262578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sng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7" name="Group 5"/>
          <p:cNvGrpSpPr/>
          <p:nvPr/>
        </p:nvGrpSpPr>
        <p:grpSpPr>
          <a:xfrm>
            <a:off x="5325480" y="1783800"/>
            <a:ext cx="7929000" cy="4758120"/>
            <a:chOff x="5325480" y="1783800"/>
            <a:chExt cx="7929000" cy="4758120"/>
          </a:xfrm>
        </p:grpSpPr>
        <p:grpSp>
          <p:nvGrpSpPr>
            <p:cNvPr id="288" name="Group 6"/>
            <p:cNvGrpSpPr/>
            <p:nvPr/>
          </p:nvGrpSpPr>
          <p:grpSpPr>
            <a:xfrm>
              <a:off x="5325480" y="1783800"/>
              <a:ext cx="7929000" cy="4758120"/>
              <a:chOff x="5325480" y="1783800"/>
              <a:chExt cx="7929000" cy="4758120"/>
            </a:xfrm>
          </p:grpSpPr>
          <p:sp>
            <p:nvSpPr>
              <p:cNvPr id="289" name="Freeform 7"/>
              <p:cNvSpPr/>
              <p:nvPr/>
            </p:nvSpPr>
            <p:spPr>
              <a:xfrm>
                <a:off x="5440320" y="2196360"/>
                <a:ext cx="7814160" cy="4345560"/>
              </a:xfrm>
              <a:custGeom>
                <a:avLst/>
                <a:gdLst>
                  <a:gd name="textAreaLeft" fmla="*/ 0 w 7814160"/>
                  <a:gd name="textAreaRight" fmla="*/ 7815600 w 7814160"/>
                  <a:gd name="textAreaTop" fmla="*/ 0 h 4345560"/>
                  <a:gd name="textAreaBottom" fmla="*/ 4347000 h 4345560"/>
                </a:gdLst>
                <a:ahLst/>
                <a:cxnLst/>
                <a:rect l="textAreaLeft" t="textAreaTop" r="textAreaRight" b="textAreaBottom"/>
                <a:pathLst>
                  <a:path w="2114031" h="1175791">
                    <a:moveTo>
                      <a:pt x="49190" y="0"/>
                    </a:moveTo>
                    <a:lnTo>
                      <a:pt x="2064841" y="0"/>
                    </a:lnTo>
                    <a:cubicBezTo>
                      <a:pt x="2092008" y="0"/>
                      <a:pt x="2114031" y="22023"/>
                      <a:pt x="2114031" y="49190"/>
                    </a:cubicBezTo>
                    <a:lnTo>
                      <a:pt x="2114031" y="1126601"/>
                    </a:lnTo>
                    <a:cubicBezTo>
                      <a:pt x="2114031" y="1153768"/>
                      <a:pt x="2092008" y="1175791"/>
                      <a:pt x="2064841" y="1175791"/>
                    </a:cubicBezTo>
                    <a:lnTo>
                      <a:pt x="49190" y="1175791"/>
                    </a:lnTo>
                    <a:cubicBezTo>
                      <a:pt x="22023" y="1175791"/>
                      <a:pt x="0" y="1153768"/>
                      <a:pt x="0" y="1126601"/>
                    </a:cubicBezTo>
                    <a:lnTo>
                      <a:pt x="0" y="49190"/>
                    </a:lnTo>
                    <a:cubicBezTo>
                      <a:pt x="0" y="22023"/>
                      <a:pt x="22023" y="0"/>
                      <a:pt x="49190" y="0"/>
                    </a:cubicBezTo>
                    <a:close/>
                  </a:path>
                </a:pathLst>
              </a:custGeom>
              <a:solidFill>
                <a:srgbClr val="B9BBD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TextBox 8"/>
              <p:cNvSpPr/>
              <p:nvPr/>
            </p:nvSpPr>
            <p:spPr>
              <a:xfrm>
                <a:off x="5325480" y="1783800"/>
                <a:ext cx="7814160" cy="473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291" name="TextBox 9"/>
            <p:cNvSpPr/>
            <p:nvPr/>
          </p:nvSpPr>
          <p:spPr>
            <a:xfrm>
              <a:off x="5440320" y="2619000"/>
              <a:ext cx="7282800" cy="328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 anchorCtr="1">
              <a:spAutoFit/>
            </a:bodyPr>
            <a:p>
              <a:pPr algn="ctr" defTabSz="914400">
                <a:lnSpc>
                  <a:spcPts val="4317"/>
                </a:lnSpc>
              </a:pPr>
              <a:endParaRPr lang="pt-BR" sz="308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marL="666000" lvl="1" indent="-333000" algn="ctr" defTabSz="914400">
                <a:lnSpc>
                  <a:spcPts val="4317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308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Rafael Monteiro</a:t>
              </a:r>
              <a:endParaRPr lang="pt-BR" sz="308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marL="666000" lvl="1" indent="-333000" algn="ctr" defTabSz="914400">
                <a:lnSpc>
                  <a:spcPts val="4317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308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Silvio de Barros </a:t>
              </a:r>
              <a:endParaRPr lang="pt-BR" sz="308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marL="666000" lvl="1" indent="-333000" algn="ctr" defTabSz="914400">
                <a:lnSpc>
                  <a:spcPts val="4317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en-US" sz="308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Marco Xaves Valentim  </a:t>
              </a:r>
              <a:endParaRPr lang="pt-BR" sz="308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4317"/>
                </a:lnSpc>
              </a:pPr>
              <a:endParaRPr lang="pt-BR" sz="2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ts val="4317"/>
                </a:lnSpc>
              </a:pPr>
              <a:endParaRPr lang="pt-BR" sz="2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CaixaDeTexto 291"/>
            <p:cNvSpPr/>
            <p:nvPr/>
          </p:nvSpPr>
          <p:spPr>
            <a:xfrm>
              <a:off x="5993640" y="4938480"/>
              <a:ext cx="6299640" cy="108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lang="pt-BR" sz="2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ct val="100000"/>
                </a:lnSpc>
              </a:pPr>
              <a:r>
                <a:rPr lang="en-US" sz="260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Por todo conhecimento, dicas e auxílio transmitido no decorrer do período.</a:t>
              </a:r>
              <a:endParaRPr lang="pt-BR" sz="2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3" name="Freeform 10"/>
          <p:cNvSpPr/>
          <p:nvPr/>
        </p:nvSpPr>
        <p:spPr>
          <a:xfrm>
            <a:off x="11160000" y="8522280"/>
            <a:ext cx="803520" cy="803520"/>
          </a:xfrm>
          <a:custGeom>
            <a:avLst/>
            <a:gdLst>
              <a:gd name="textAreaLeft" fmla="*/ 0 w 803520"/>
              <a:gd name="textAreaRight" fmla="*/ 804960 w 803520"/>
              <a:gd name="textAreaTop" fmla="*/ 0 h 803520"/>
              <a:gd name="textAreaBottom" fmla="*/ 804960 h 803520"/>
            </a:gdLst>
            <a:ahLst/>
            <a:cxnLst/>
            <a:rect l="textAreaLeft" t="textAreaTop" r="textAreaRight" b="textAreaBottom"/>
            <a:pathLst>
              <a:path w="805115" h="805115">
                <a:moveTo>
                  <a:pt x="0" y="0"/>
                </a:moveTo>
                <a:lnTo>
                  <a:pt x="805114" y="0"/>
                </a:lnTo>
                <a:lnTo>
                  <a:pt x="805114" y="805114"/>
                </a:lnTo>
                <a:lnTo>
                  <a:pt x="0" y="80511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4" name="Group 11"/>
          <p:cNvGrpSpPr/>
          <p:nvPr/>
        </p:nvGrpSpPr>
        <p:grpSpPr>
          <a:xfrm>
            <a:off x="5175360" y="672480"/>
            <a:ext cx="7936200" cy="1743120"/>
            <a:chOff x="5175360" y="672480"/>
            <a:chExt cx="7936200" cy="1743120"/>
          </a:xfrm>
        </p:grpSpPr>
        <p:sp>
          <p:nvSpPr>
            <p:cNvPr id="295" name="TextBox 12"/>
            <p:cNvSpPr/>
            <p:nvPr/>
          </p:nvSpPr>
          <p:spPr>
            <a:xfrm>
              <a:off x="5175360" y="672480"/>
              <a:ext cx="7936200" cy="125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8379"/>
                </a:lnSpc>
              </a:pPr>
              <a:r>
                <a:rPr lang="en-US" sz="761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Agradecimentos</a:t>
              </a:r>
              <a:endParaRPr lang="pt-BR" sz="761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Box 13"/>
            <p:cNvSpPr/>
            <p:nvPr/>
          </p:nvSpPr>
          <p:spPr>
            <a:xfrm>
              <a:off x="7290360" y="2192400"/>
              <a:ext cx="3582720" cy="22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97" name="TextBox 14"/>
          <p:cNvSpPr/>
          <p:nvPr/>
        </p:nvSpPr>
        <p:spPr>
          <a:xfrm>
            <a:off x="6034680" y="8527680"/>
            <a:ext cx="507096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199"/>
              </a:lnSpc>
            </a:pPr>
            <a:r>
              <a:rPr lang="en-US" sz="372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Até o próximo período! </a:t>
            </a:r>
            <a:endParaRPr lang="pt-BR" sz="3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98" name="Group 15"/>
          <p:cNvGrpSpPr/>
          <p:nvPr/>
        </p:nvGrpSpPr>
        <p:grpSpPr>
          <a:xfrm>
            <a:off x="5325480" y="6197760"/>
            <a:ext cx="7814160" cy="2261880"/>
            <a:chOff x="5325480" y="6197760"/>
            <a:chExt cx="7814160" cy="2261880"/>
          </a:xfrm>
        </p:grpSpPr>
        <p:grpSp>
          <p:nvGrpSpPr>
            <p:cNvPr id="299" name="Group 16"/>
            <p:cNvGrpSpPr/>
            <p:nvPr/>
          </p:nvGrpSpPr>
          <p:grpSpPr>
            <a:xfrm>
              <a:off x="5325480" y="6197760"/>
              <a:ext cx="7814160" cy="2261880"/>
              <a:chOff x="5325480" y="6197760"/>
              <a:chExt cx="7814160" cy="2261880"/>
            </a:xfrm>
          </p:grpSpPr>
          <p:sp>
            <p:nvSpPr>
              <p:cNvPr id="300" name="Freeform 17"/>
              <p:cNvSpPr/>
              <p:nvPr/>
            </p:nvSpPr>
            <p:spPr>
              <a:xfrm>
                <a:off x="5325480" y="6622200"/>
                <a:ext cx="7814160" cy="1837440"/>
              </a:xfrm>
              <a:custGeom>
                <a:avLst/>
                <a:gdLst>
                  <a:gd name="textAreaLeft" fmla="*/ 0 w 7814160"/>
                  <a:gd name="textAreaRight" fmla="*/ 7815600 w 7814160"/>
                  <a:gd name="textAreaTop" fmla="*/ 0 h 1837440"/>
                  <a:gd name="textAreaBottom" fmla="*/ 1838880 h 1837440"/>
                </a:gdLst>
                <a:ahLst/>
                <a:cxnLst/>
                <a:rect l="textAreaLeft" t="textAreaTop" r="textAreaRight" b="textAreaBottom"/>
                <a:pathLst>
                  <a:path w="2099289" h="454607">
                    <a:moveTo>
                      <a:pt x="49536" y="0"/>
                    </a:moveTo>
                    <a:lnTo>
                      <a:pt x="2049753" y="0"/>
                    </a:lnTo>
                    <a:cubicBezTo>
                      <a:pt x="2077111" y="0"/>
                      <a:pt x="2099289" y="22178"/>
                      <a:pt x="2099289" y="49536"/>
                    </a:cubicBezTo>
                    <a:lnTo>
                      <a:pt x="2099289" y="405071"/>
                    </a:lnTo>
                    <a:cubicBezTo>
                      <a:pt x="2099289" y="432429"/>
                      <a:pt x="2077111" y="454607"/>
                      <a:pt x="2049753" y="454607"/>
                    </a:cubicBezTo>
                    <a:lnTo>
                      <a:pt x="49536" y="454607"/>
                    </a:lnTo>
                    <a:cubicBezTo>
                      <a:pt x="22178" y="454607"/>
                      <a:pt x="0" y="432429"/>
                      <a:pt x="0" y="405071"/>
                    </a:cubicBezTo>
                    <a:lnTo>
                      <a:pt x="0" y="49536"/>
                    </a:lnTo>
                    <a:cubicBezTo>
                      <a:pt x="0" y="22178"/>
                      <a:pt x="22178" y="0"/>
                      <a:pt x="49536" y="0"/>
                    </a:cubicBezTo>
                    <a:close/>
                  </a:path>
                </a:pathLst>
              </a:custGeom>
              <a:solidFill>
                <a:srgbClr val="B9BBD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pt-BR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TextBox 18"/>
              <p:cNvSpPr/>
              <p:nvPr/>
            </p:nvSpPr>
            <p:spPr>
              <a:xfrm>
                <a:off x="5325480" y="6197760"/>
                <a:ext cx="7814160" cy="2261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302" name="TextBox 19"/>
            <p:cNvSpPr/>
            <p:nvPr/>
          </p:nvSpPr>
          <p:spPr>
            <a:xfrm>
              <a:off x="5563440" y="6710040"/>
              <a:ext cx="7046280" cy="156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just" defTabSz="914400">
                <a:lnSpc>
                  <a:spcPts val="4096"/>
                </a:lnSpc>
              </a:pPr>
              <a:r>
                <a:rPr lang="en-US" sz="2930" b="0" u="none" strike="noStrike">
                  <a:solidFill>
                    <a:srgbClr val="000000"/>
                  </a:solidFill>
                  <a:effectLst/>
                  <a:uFillTx/>
                  <a:latin typeface="Agrandir"/>
                  <a:ea typeface="Agrandir"/>
                </a:rPr>
                <a:t>Nossos familiares pelo apoio estrutural, emocional e fortificação de nossa fé em nossa em Deus.</a:t>
              </a:r>
              <a:endParaRPr lang="pt-BR" sz="293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3" name="CaixaDeTexto 302"/>
          <p:cNvSpPr/>
          <p:nvPr/>
        </p:nvSpPr>
        <p:spPr>
          <a:xfrm>
            <a:off x="5580000" y="2313720"/>
            <a:ext cx="5579640" cy="69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grandir"/>
                <a:ea typeface="Agrandir"/>
              </a:rPr>
              <a:t>Professores: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3043</TotalTime>
  <Application>LibreOffice/26.2.4.2$Windows_X86_64 LibreOffice_project/0229ac93fcf0d7cbc6376066c6f35021cef002dc</Application>
  <AppVersion>15.0000</AppVersion>
  <Words>949</Words>
  <Paragraphs>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sd</dc:creator>
  <dc:description/>
  <dc:identifier>DAHMaLqAr8Y</dc:identifier>
  <dc:language>pt-BR</dc:language>
  <cp:lastModifiedBy/>
  <dcterms:modified xsi:type="dcterms:W3CDTF">2026-06-25T21:09:06Z</dcterms:modified>
  <cp:revision>19</cp:revision>
  <dc:subject/>
  <dc:title>PROJETO FRONT-END - ADS - BANGU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Personalizar</vt:lpwstr>
  </property>
  <property fmtid="{D5CDD505-2E9C-101B-9397-08002B2CF9AE}" pid="3" name="Slides">
    <vt:i4>15</vt:i4>
  </property>
</Properties>
</file>